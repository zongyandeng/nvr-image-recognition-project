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691"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457200"/>
            <a:ext cx="11277295" cy="5943600"/>
          </a:xfrm>
          <a:prstGeom prst="rect">
            <a:avLst/>
          </a:prstGeom>
          <a:noFill/>
          <a:ln w="25400">
            <a:solidFill>
              <a:srgbClr val="00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48640"/>
            <a:ext cx="2743200" cy="365760"/>
          </a:xfrm>
          <a:prstGeom prst="rect">
            <a:avLst/>
          </a:prstGeom>
          <a:noFill/>
        </p:spPr>
        <p:txBody>
          <a:bodyPr wrap="none">
            <a:spAutoFit/>
          </a:bodyPr>
          <a:lstStyle/>
          <a:p>
            <a:pPr>
              <a:defRPr sz="1000" b="1">
                <a:solidFill>
                  <a:srgbClr val="00FF78"/>
                </a:solidFill>
                <a:latin typeface="Courier New"/>
              </a:defRPr>
            </a:pPr>
            <a:r>
              <a:t>[ SURVEILLANCE ACTIVE ]</a:t>
            </a:r>
          </a:p>
        </p:txBody>
      </p:sp>
      <p:sp>
        <p:nvSpPr>
          <p:cNvPr id="5" name="TextBox 4"/>
          <p:cNvSpPr txBox="1"/>
          <p:nvPr/>
        </p:nvSpPr>
        <p:spPr>
          <a:xfrm>
            <a:off x="914400" y="1920240"/>
            <a:ext cx="10362895" cy="3200400"/>
          </a:xfrm>
          <a:prstGeom prst="rect">
            <a:avLst/>
          </a:prstGeom>
          <a:noFill/>
        </p:spPr>
        <p:txBody>
          <a:bodyPr wrap="square">
            <a:spAutoFit/>
          </a:bodyPr>
          <a:lstStyle/>
          <a:p>
            <a:pPr algn="ctr">
              <a:defRPr sz="3800" b="1">
                <a:solidFill>
                  <a:srgbClr val="00B4FF"/>
                </a:solidFill>
                <a:latin typeface="Microsoft JhengHei"/>
              </a:defRPr>
            </a:pPr>
            <a:r>
              <a:rPr dirty="0"/>
              <a:t>🛡️ AI Soft-NVR</a:t>
            </a:r>
            <a:br>
              <a:rPr dirty="0"/>
            </a:br>
            <a:r>
              <a:rPr dirty="0" err="1"/>
              <a:t>智慧安全監控與入侵辨識系統</a:t>
            </a:r>
            <a:endParaRPr dirty="0"/>
          </a:p>
          <a:p>
            <a:pPr>
              <a:defRPr sz="1400"/>
            </a:pPr>
            <a:endParaRPr dirty="0"/>
          </a:p>
          <a:p>
            <a:pPr algn="ctr">
              <a:defRPr sz="1800">
                <a:solidFill>
                  <a:srgbClr val="F0F0F5"/>
                </a:solidFill>
                <a:latin typeface="Microsoft JhengHei"/>
              </a:defRPr>
            </a:pPr>
            <a:r>
              <a:rPr dirty="0" err="1"/>
              <a:t>基於</a:t>
            </a:r>
            <a:r>
              <a:rPr dirty="0"/>
              <a:t> </a:t>
            </a:r>
            <a:r>
              <a:rPr dirty="0" err="1"/>
              <a:t>FastAPI</a:t>
            </a:r>
            <a:r>
              <a:rPr dirty="0"/>
              <a:t>, </a:t>
            </a:r>
            <a:r>
              <a:rPr dirty="0" err="1"/>
              <a:t>OpenCV</a:t>
            </a:r>
            <a:r>
              <a:rPr dirty="0"/>
              <a:t> 與 YOLOv8 </a:t>
            </a:r>
            <a:r>
              <a:rPr dirty="0" err="1"/>
              <a:t>的低延遲、高安全性居家防衛方案</a:t>
            </a:r>
            <a:endParaRPr dirty="0"/>
          </a:p>
          <a:p>
            <a:pPr>
              <a:defRPr sz="2000"/>
            </a:pPr>
            <a:endParaRPr dirty="0"/>
          </a:p>
          <a:p>
            <a:pPr algn="ctr">
              <a:defRPr sz="1300">
                <a:solidFill>
                  <a:srgbClr val="00FF78"/>
                </a:solidFill>
                <a:latin typeface="Microsoft JhengHei"/>
              </a:defRPr>
            </a:pPr>
            <a:r>
              <a:rPr dirty="0" err="1"/>
              <a:t>專案核心概念</a:t>
            </a:r>
            <a:r>
              <a:rPr dirty="0"/>
              <a:t> ・ </a:t>
            </a:r>
            <a:r>
              <a:rPr dirty="0" err="1"/>
              <a:t>修改演進歷程</a:t>
            </a:r>
            <a:r>
              <a:rPr dirty="0"/>
              <a:t> ・ </a:t>
            </a:r>
            <a:r>
              <a:rPr dirty="0" err="1"/>
              <a:t>關鍵問題與解決方案</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1094415" cy="731520"/>
          </a:xfrm>
          <a:prstGeom prst="rect">
            <a:avLst/>
          </a:prstGeom>
          <a:noFill/>
        </p:spPr>
        <p:txBody>
          <a:bodyPr wrap="square" lIns="0" tIns="0" rIns="0" bIns="0">
            <a:spAutoFit/>
          </a:bodyPr>
          <a:lstStyle/>
          <a:p>
            <a:pPr>
              <a:defRPr sz="2600" b="1">
                <a:solidFill>
                  <a:srgbClr val="00B4FF"/>
                </a:solidFill>
                <a:latin typeface="Microsoft JhengHei"/>
              </a:defRPr>
            </a:pPr>
            <a:r>
              <a:t>🌟 專案核心概念與特色</a:t>
            </a:r>
          </a:p>
        </p:txBody>
      </p:sp>
      <p:sp>
        <p:nvSpPr>
          <p:cNvPr id="5" name="Rounded Rectangle 4"/>
          <p:cNvSpPr/>
          <p:nvPr/>
        </p:nvSpPr>
        <p:spPr>
          <a:xfrm>
            <a:off x="548640" y="1371600"/>
            <a:ext cx="5303520" cy="4754880"/>
          </a:xfrm>
          <a:prstGeom prst="roundRect">
            <a:avLst/>
          </a:prstGeom>
          <a:solidFill>
            <a:srgbClr val="1E222A"/>
          </a:solidFill>
          <a:ln w="19050">
            <a:solidFill>
              <a:srgbClr val="00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4846320" cy="4389120"/>
          </a:xfrm>
          <a:prstGeom prst="rect">
            <a:avLst/>
          </a:prstGeom>
          <a:noFill/>
        </p:spPr>
        <p:txBody>
          <a:bodyPr wrap="square" lIns="0" tIns="0" rIns="0" bIns="0">
            <a:spAutoFit/>
          </a:bodyPr>
          <a:lstStyle/>
          <a:p>
            <a:pPr>
              <a:defRPr sz="1700" b="1">
                <a:solidFill>
                  <a:srgbClr val="00B4FF"/>
                </a:solidFill>
                <a:latin typeface="Microsoft JhengHei"/>
              </a:defRPr>
            </a:pPr>
            <a:r>
              <a:rPr sz="2000" dirty="0"/>
              <a:t>⚡ </a:t>
            </a:r>
            <a:r>
              <a:rPr sz="2000" dirty="0" err="1"/>
              <a:t>即時低延遲影像串流</a:t>
            </a:r>
            <a:endParaRPr sz="2000" dirty="0"/>
          </a:p>
          <a:p>
            <a:pPr>
              <a:spcBef>
                <a:spcPts val="600"/>
              </a:spcBef>
              <a:defRPr sz="1150">
                <a:solidFill>
                  <a:srgbClr val="F0F0F5"/>
                </a:solidFill>
                <a:latin typeface="Microsoft JhengHei"/>
              </a:defRPr>
            </a:pPr>
            <a:r>
              <a:rPr sz="2000" dirty="0"/>
              <a:t>• </a:t>
            </a:r>
            <a:r>
              <a:rPr sz="2000" dirty="0" err="1"/>
              <a:t>WebSockets</a:t>
            </a:r>
            <a:r>
              <a:rPr sz="2000" dirty="0"/>
              <a:t> </a:t>
            </a:r>
            <a:r>
              <a:rPr sz="2000" dirty="0" err="1"/>
              <a:t>傳輸技術：後端擷取影像進行高效</a:t>
            </a:r>
            <a:r>
              <a:rPr sz="2000" dirty="0"/>
              <a:t> JPEG </a:t>
            </a:r>
            <a:r>
              <a:rPr sz="2000" dirty="0" err="1"/>
              <a:t>壓縮，轉為</a:t>
            </a:r>
            <a:r>
              <a:rPr sz="2000" dirty="0"/>
              <a:t> Base64 </a:t>
            </a:r>
            <a:r>
              <a:rPr sz="2000" dirty="0" err="1"/>
              <a:t>編碼即時推播，FPS</a:t>
            </a:r>
            <a:r>
              <a:rPr sz="2000" dirty="0"/>
              <a:t> 達 ~20 </a:t>
            </a:r>
            <a:r>
              <a:rPr sz="2000" dirty="0" err="1"/>
              <a:t>影格，維持超低延遲即時畫面體驗</a:t>
            </a:r>
            <a:r>
              <a:rPr sz="2000" dirty="0"/>
              <a:t>。</a:t>
            </a:r>
          </a:p>
          <a:p>
            <a:pPr>
              <a:spcBef>
                <a:spcPts val="600"/>
              </a:spcBef>
              <a:defRPr sz="1150">
                <a:solidFill>
                  <a:srgbClr val="F0F0F5"/>
                </a:solidFill>
                <a:latin typeface="Microsoft JhengHei"/>
              </a:defRPr>
            </a:pPr>
            <a:r>
              <a:rPr sz="2000" dirty="0"/>
              <a:t>• </a:t>
            </a:r>
            <a:r>
              <a:rPr sz="2000" dirty="0" err="1"/>
              <a:t>電子藍（Cyber</a:t>
            </a:r>
            <a:r>
              <a:rPr sz="2000" dirty="0"/>
              <a:t> </a:t>
            </a:r>
            <a:r>
              <a:rPr sz="2000" dirty="0" err="1"/>
              <a:t>Blue）即時標記：即時影像動態疊加</a:t>
            </a:r>
            <a:r>
              <a:rPr sz="2000" dirty="0"/>
              <a:t> AI </a:t>
            </a:r>
            <a:r>
              <a:rPr sz="2000" dirty="0" err="1"/>
              <a:t>藍框與偵測信心度標籤；在觸發事件錄影時，於網頁上加註紅色閃爍</a:t>
            </a:r>
            <a:r>
              <a:rPr sz="2000" dirty="0"/>
              <a:t>「● </a:t>
            </a:r>
            <a:r>
              <a:rPr sz="2000" dirty="0" err="1"/>
              <a:t>REC」錄影字樣</a:t>
            </a:r>
            <a:r>
              <a:rPr sz="2000" dirty="0"/>
              <a:t>。</a:t>
            </a:r>
          </a:p>
          <a:p>
            <a:pPr>
              <a:spcBef>
                <a:spcPts val="600"/>
              </a:spcBef>
              <a:defRPr sz="1150">
                <a:solidFill>
                  <a:srgbClr val="F0F0F5"/>
                </a:solidFill>
                <a:latin typeface="Microsoft JhengHei"/>
              </a:defRPr>
            </a:pPr>
            <a:r>
              <a:rPr sz="2000" dirty="0"/>
              <a:t>• </a:t>
            </a:r>
            <a:r>
              <a:rPr sz="2000" dirty="0" err="1"/>
              <a:t>異常連線優雅釋放：WebSocket</a:t>
            </a:r>
            <a:r>
              <a:rPr sz="2000" dirty="0"/>
              <a:t> </a:t>
            </a:r>
            <a:r>
              <a:rPr sz="2000" dirty="0" err="1"/>
              <a:t>連線若因瀏覽器關閉</a:t>
            </a:r>
            <a:r>
              <a:rPr sz="2000" dirty="0"/>
              <a:t>/</a:t>
            </a:r>
            <a:r>
              <a:rPr sz="2000" dirty="0" err="1"/>
              <a:t>重新整理而中斷，後端能自動捕獲異常並立刻終止背景迴圈，防止</a:t>
            </a:r>
            <a:r>
              <a:rPr sz="2000" dirty="0"/>
              <a:t> CPU </a:t>
            </a:r>
            <a:r>
              <a:rPr sz="2000" dirty="0" err="1"/>
              <a:t>空轉與</a:t>
            </a:r>
            <a:r>
              <a:rPr sz="2000" dirty="0"/>
              <a:t> Log </a:t>
            </a:r>
            <a:r>
              <a:rPr sz="2000" dirty="0" err="1"/>
              <a:t>狂飆</a:t>
            </a:r>
            <a:r>
              <a:rPr sz="2000" dirty="0"/>
              <a:t>。</a:t>
            </a:r>
          </a:p>
        </p:txBody>
      </p:sp>
      <p:sp>
        <p:nvSpPr>
          <p:cNvPr id="7" name="Rounded Rectangle 6"/>
          <p:cNvSpPr/>
          <p:nvPr/>
        </p:nvSpPr>
        <p:spPr>
          <a:xfrm>
            <a:off x="6309360" y="1371600"/>
            <a:ext cx="5303520" cy="4754880"/>
          </a:xfrm>
          <a:prstGeom prst="roundRect">
            <a:avLst/>
          </a:prstGeom>
          <a:solidFill>
            <a:srgbClr val="1E222A"/>
          </a:solidFill>
          <a:ln w="19050">
            <a:solidFill>
              <a:srgbClr val="00F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554480"/>
            <a:ext cx="4846320" cy="4539704"/>
          </a:xfrm>
          <a:prstGeom prst="rect">
            <a:avLst/>
          </a:prstGeom>
          <a:noFill/>
        </p:spPr>
        <p:txBody>
          <a:bodyPr wrap="square" lIns="0" tIns="0" rIns="0" bIns="0">
            <a:spAutoFit/>
          </a:bodyPr>
          <a:lstStyle/>
          <a:p>
            <a:pPr>
              <a:defRPr sz="1700" b="1">
                <a:solidFill>
                  <a:srgbClr val="00FF78"/>
                </a:solidFill>
                <a:latin typeface="Microsoft JhengHei"/>
              </a:defRPr>
            </a:pPr>
            <a:r>
              <a:rPr sz="2000" dirty="0"/>
              <a:t>🧠 </a:t>
            </a:r>
            <a:r>
              <a:rPr sz="2000" dirty="0" err="1"/>
              <a:t>雙重</a:t>
            </a:r>
            <a:r>
              <a:rPr sz="2000" dirty="0"/>
              <a:t> AI </a:t>
            </a:r>
            <a:r>
              <a:rPr sz="2000" dirty="0" err="1"/>
              <a:t>偵測與雷達模擬器</a:t>
            </a:r>
            <a:endParaRPr sz="2000" dirty="0"/>
          </a:p>
          <a:p>
            <a:pPr>
              <a:spcBef>
                <a:spcPts val="600"/>
              </a:spcBef>
              <a:defRPr sz="1150">
                <a:solidFill>
                  <a:srgbClr val="F0F0F5"/>
                </a:solidFill>
                <a:latin typeface="Microsoft JhengHei"/>
              </a:defRPr>
            </a:pPr>
            <a:r>
              <a:rPr sz="2000" dirty="0"/>
              <a:t>• </a:t>
            </a:r>
            <a:r>
              <a:rPr sz="2000" dirty="0" err="1"/>
              <a:t>高級</a:t>
            </a:r>
            <a:r>
              <a:rPr sz="2000" dirty="0"/>
              <a:t> YOLOv8 </a:t>
            </a:r>
            <a:r>
              <a:rPr sz="2000" dirty="0" err="1"/>
              <a:t>模式：系統啟動時若偵測到本機有</a:t>
            </a:r>
            <a:r>
              <a:rPr sz="2000" dirty="0"/>
              <a:t> </a:t>
            </a:r>
            <a:r>
              <a:rPr sz="2000" dirty="0" err="1"/>
              <a:t>ultralytics</a:t>
            </a:r>
            <a:r>
              <a:rPr sz="2000" dirty="0"/>
              <a:t> </a:t>
            </a:r>
            <a:r>
              <a:rPr sz="2000" dirty="0" err="1"/>
              <a:t>依賴，會自動加載並執行</a:t>
            </a:r>
            <a:r>
              <a:rPr sz="2000" dirty="0"/>
              <a:t> yolov8n </a:t>
            </a:r>
            <a:r>
              <a:rPr sz="2000" dirty="0" err="1"/>
              <a:t>奈米模型，進行高精度人體目標鎖定，防範因風吹草動、寵物或光線引起的誤警報</a:t>
            </a:r>
            <a:r>
              <a:rPr sz="2000" dirty="0"/>
              <a:t>。</a:t>
            </a:r>
          </a:p>
          <a:p>
            <a:pPr>
              <a:spcBef>
                <a:spcPts val="600"/>
              </a:spcBef>
              <a:defRPr sz="1150">
                <a:solidFill>
                  <a:srgbClr val="F0F0F5"/>
                </a:solidFill>
                <a:latin typeface="Microsoft JhengHei"/>
              </a:defRPr>
            </a:pPr>
            <a:r>
              <a:rPr sz="2000" dirty="0"/>
              <a:t>• </a:t>
            </a:r>
            <a:r>
              <a:rPr sz="2000" dirty="0" err="1"/>
              <a:t>預設輕量模式：無</a:t>
            </a:r>
            <a:r>
              <a:rPr sz="2000" dirty="0"/>
              <a:t> YOLO </a:t>
            </a:r>
            <a:r>
              <a:rPr sz="2000" dirty="0" err="1"/>
              <a:t>環境時自動切換至內建</a:t>
            </a:r>
            <a:r>
              <a:rPr sz="2000" dirty="0"/>
              <a:t> </a:t>
            </a:r>
            <a:r>
              <a:rPr sz="2000" dirty="0" err="1"/>
              <a:t>OpenCV</a:t>
            </a:r>
            <a:r>
              <a:rPr sz="2000" dirty="0"/>
              <a:t> </a:t>
            </a:r>
            <a:r>
              <a:rPr sz="2000" dirty="0" err="1"/>
              <a:t>Haar</a:t>
            </a:r>
            <a:r>
              <a:rPr sz="2000" dirty="0"/>
              <a:t> Cascades </a:t>
            </a:r>
            <a:r>
              <a:rPr sz="2000" dirty="0" err="1"/>
              <a:t>人臉識別與動態偵測，兼顧輕量</a:t>
            </a:r>
            <a:r>
              <a:rPr sz="2000" dirty="0"/>
              <a:t> </a:t>
            </a:r>
            <a:r>
              <a:rPr sz="2000" dirty="0" err="1"/>
              <a:t>CPU（如</a:t>
            </a:r>
            <a:r>
              <a:rPr sz="2000" dirty="0"/>
              <a:t> Raspberry </a:t>
            </a:r>
            <a:r>
              <a:rPr sz="2000" dirty="0" err="1"/>
              <a:t>Pi）執行需求</a:t>
            </a:r>
            <a:r>
              <a:rPr sz="2000" dirty="0"/>
              <a:t>。</a:t>
            </a:r>
          </a:p>
          <a:p>
            <a:pPr>
              <a:spcBef>
                <a:spcPts val="600"/>
              </a:spcBef>
              <a:defRPr sz="1150">
                <a:solidFill>
                  <a:srgbClr val="F0F0F5"/>
                </a:solidFill>
                <a:latin typeface="Microsoft JhengHei"/>
              </a:defRPr>
            </a:pPr>
            <a:r>
              <a:rPr sz="2000" dirty="0"/>
              <a:t>• </a:t>
            </a:r>
            <a:r>
              <a:rPr sz="2000" dirty="0" err="1"/>
              <a:t>內建雷達模擬器</a:t>
            </a:r>
            <a:r>
              <a:rPr sz="2000" dirty="0"/>
              <a:t> (Simulator)：</a:t>
            </a:r>
            <a:r>
              <a:rPr sz="2000" dirty="0" err="1"/>
              <a:t>專門為無實體相機鏡頭的開發環境設計，提供高科技感雷達掃描背景與移動入侵點模擬，實現無硬體相機的零門檻敏捷開發</a:t>
            </a:r>
            <a:r>
              <a:rPr sz="20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1094415" cy="731520"/>
          </a:xfrm>
          <a:prstGeom prst="rect">
            <a:avLst/>
          </a:prstGeom>
          <a:noFill/>
        </p:spPr>
        <p:txBody>
          <a:bodyPr wrap="square" lIns="0" tIns="0" rIns="0" bIns="0">
            <a:spAutoFit/>
          </a:bodyPr>
          <a:lstStyle/>
          <a:p>
            <a:pPr>
              <a:defRPr sz="2600" b="1">
                <a:solidFill>
                  <a:srgbClr val="00B4FF"/>
                </a:solidFill>
                <a:latin typeface="Microsoft JhengHei"/>
              </a:defRPr>
            </a:pPr>
            <a:r>
              <a:t>⏪ 兩大獨家核心創新技術</a:t>
            </a:r>
          </a:p>
        </p:txBody>
      </p:sp>
      <p:sp>
        <p:nvSpPr>
          <p:cNvPr id="5" name="Rounded Rectangle 4"/>
          <p:cNvSpPr/>
          <p:nvPr/>
        </p:nvSpPr>
        <p:spPr>
          <a:xfrm>
            <a:off x="548640" y="1371600"/>
            <a:ext cx="5303520" cy="4754880"/>
          </a:xfrm>
          <a:prstGeom prst="roundRect">
            <a:avLst/>
          </a:prstGeom>
          <a:solidFill>
            <a:srgbClr val="1E222A"/>
          </a:solidFill>
          <a:ln w="19050">
            <a:solidFill>
              <a:srgbClr val="00F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4846320" cy="4389120"/>
          </a:xfrm>
          <a:prstGeom prst="rect">
            <a:avLst/>
          </a:prstGeom>
          <a:noFill/>
        </p:spPr>
        <p:txBody>
          <a:bodyPr wrap="square" lIns="0" tIns="0" rIns="0" bIns="0">
            <a:spAutoFit/>
          </a:bodyPr>
          <a:lstStyle/>
          <a:p>
            <a:pPr>
              <a:defRPr sz="1700" b="1">
                <a:solidFill>
                  <a:srgbClr val="00FF78"/>
                </a:solidFill>
                <a:latin typeface="Microsoft JhengHei"/>
              </a:defRPr>
            </a:pPr>
            <a:r>
              <a:rPr sz="2000" dirty="0"/>
              <a:t>⏪ </a:t>
            </a:r>
            <a:r>
              <a:rPr sz="2000" dirty="0" err="1"/>
              <a:t>獨家</a:t>
            </a:r>
            <a:r>
              <a:rPr sz="2000" dirty="0"/>
              <a:t> 5 </a:t>
            </a:r>
            <a:r>
              <a:rPr sz="2000" dirty="0" err="1"/>
              <a:t>秒「預錄回溯緩衝區</a:t>
            </a:r>
            <a:r>
              <a:rPr sz="2000" dirty="0"/>
              <a:t>」</a:t>
            </a:r>
          </a:p>
          <a:p>
            <a:pPr>
              <a:spcBef>
                <a:spcPts val="600"/>
              </a:spcBef>
              <a:defRPr sz="1150">
                <a:solidFill>
                  <a:srgbClr val="F0F0F5"/>
                </a:solidFill>
                <a:latin typeface="Microsoft JhengHei"/>
              </a:defRPr>
            </a:pPr>
            <a:r>
              <a:rPr sz="2000" dirty="0"/>
              <a:t>• </a:t>
            </a:r>
            <a:r>
              <a:rPr sz="2000" dirty="0" err="1"/>
              <a:t>記憶體環形緩衝快取：在記憶體中維護一個雙端佇列（deque</a:t>
            </a:r>
            <a:r>
              <a:rPr sz="2000" dirty="0"/>
              <a:t>(</a:t>
            </a:r>
            <a:r>
              <a:rPr sz="2000" dirty="0" err="1"/>
              <a:t>maxlen</a:t>
            </a:r>
            <a:r>
              <a:rPr sz="2000" dirty="0"/>
              <a:t>=100)），在 20 FPS </a:t>
            </a:r>
            <a:r>
              <a:rPr sz="2000" dirty="0" err="1"/>
              <a:t>下滾動式儲存最近</a:t>
            </a:r>
            <a:r>
              <a:rPr sz="2000" dirty="0"/>
              <a:t> 5 </a:t>
            </a:r>
            <a:r>
              <a:rPr sz="2000" dirty="0" err="1"/>
              <a:t>秒的連續監視影格</a:t>
            </a:r>
            <a:r>
              <a:rPr sz="2000" dirty="0"/>
              <a:t>。</a:t>
            </a:r>
          </a:p>
          <a:p>
            <a:pPr>
              <a:spcBef>
                <a:spcPts val="600"/>
              </a:spcBef>
              <a:defRPr sz="1150">
                <a:solidFill>
                  <a:srgbClr val="F0F0F5"/>
                </a:solidFill>
                <a:latin typeface="Microsoft JhengHei"/>
              </a:defRPr>
            </a:pPr>
            <a:r>
              <a:rPr sz="2000" dirty="0"/>
              <a:t>• </a:t>
            </a:r>
            <a:r>
              <a:rPr sz="2000" dirty="0" err="1"/>
              <a:t>事件前因還原：當</a:t>
            </a:r>
            <a:r>
              <a:rPr sz="2000" dirty="0"/>
              <a:t> AI </a:t>
            </a:r>
            <a:r>
              <a:rPr sz="2000" dirty="0" err="1"/>
              <a:t>偵測判定入侵發生並啟動錄影時，系統會「先將</a:t>
            </a:r>
            <a:r>
              <a:rPr sz="2000" dirty="0"/>
              <a:t> 5 </a:t>
            </a:r>
            <a:r>
              <a:rPr sz="2000" dirty="0" err="1"/>
              <a:t>秒前記憶體快取的畫面完整寫入影片</a:t>
            </a:r>
            <a:r>
              <a:rPr sz="2000" dirty="0"/>
              <a:t>」，</a:t>
            </a:r>
            <a:r>
              <a:rPr sz="2000" dirty="0" err="1"/>
              <a:t>隨後再繼續錄製動態入侵畫面</a:t>
            </a:r>
            <a:r>
              <a:rPr sz="2000" dirty="0"/>
              <a:t>。</a:t>
            </a:r>
          </a:p>
          <a:p>
            <a:pPr>
              <a:spcBef>
                <a:spcPts val="600"/>
              </a:spcBef>
              <a:defRPr sz="1150">
                <a:solidFill>
                  <a:srgbClr val="F0F0F5"/>
                </a:solidFill>
                <a:latin typeface="Microsoft JhengHei"/>
              </a:defRPr>
            </a:pPr>
            <a:r>
              <a:rPr sz="2000" dirty="0"/>
              <a:t>• </a:t>
            </a:r>
            <a:r>
              <a:rPr sz="2000" dirty="0" err="1"/>
              <a:t>保障黃金關鍵：這徹底解決了以往「偵測到入侵才錄影、卻已錯過嫌犯如何翻牆或接近的最關鍵</a:t>
            </a:r>
            <a:r>
              <a:rPr sz="2000" dirty="0"/>
              <a:t> 5 </a:t>
            </a:r>
            <a:r>
              <a:rPr sz="2000" dirty="0" err="1"/>
              <a:t>秒前置動態」的痛點，完整保留事件前因後果</a:t>
            </a:r>
            <a:r>
              <a:rPr sz="2000" dirty="0"/>
              <a:t>。</a:t>
            </a:r>
          </a:p>
        </p:txBody>
      </p:sp>
      <p:sp>
        <p:nvSpPr>
          <p:cNvPr id="7" name="Rounded Rectangle 6"/>
          <p:cNvSpPr/>
          <p:nvPr/>
        </p:nvSpPr>
        <p:spPr>
          <a:xfrm>
            <a:off x="6309360" y="1371600"/>
            <a:ext cx="5303520" cy="4754880"/>
          </a:xfrm>
          <a:prstGeom prst="roundRect">
            <a:avLst/>
          </a:prstGeom>
          <a:solidFill>
            <a:srgbClr val="1E222A"/>
          </a:solidFill>
          <a:ln w="19050">
            <a:solidFill>
              <a:srgbClr val="00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554480"/>
            <a:ext cx="4846320" cy="3847207"/>
          </a:xfrm>
          <a:prstGeom prst="rect">
            <a:avLst/>
          </a:prstGeom>
          <a:noFill/>
        </p:spPr>
        <p:txBody>
          <a:bodyPr wrap="square" lIns="0" tIns="0" rIns="0" bIns="0">
            <a:spAutoFit/>
          </a:bodyPr>
          <a:lstStyle/>
          <a:p>
            <a:pPr>
              <a:defRPr sz="1700" b="1">
                <a:solidFill>
                  <a:srgbClr val="00B4FF"/>
                </a:solidFill>
                <a:latin typeface="Microsoft JhengHei"/>
              </a:defRPr>
            </a:pPr>
            <a:r>
              <a:rPr sz="2000" dirty="0"/>
              <a:t>🎬 </a:t>
            </a:r>
            <a:r>
              <a:rPr sz="2000" dirty="0" err="1"/>
              <a:t>原生</a:t>
            </a:r>
            <a:r>
              <a:rPr sz="2000" dirty="0"/>
              <a:t> H.264 與 HTTP 206 </a:t>
            </a:r>
            <a:r>
              <a:rPr sz="2000" dirty="0" err="1"/>
              <a:t>區段重播</a:t>
            </a:r>
            <a:endParaRPr sz="2000" dirty="0"/>
          </a:p>
          <a:p>
            <a:pPr>
              <a:spcBef>
                <a:spcPts val="600"/>
              </a:spcBef>
              <a:defRPr sz="1150">
                <a:solidFill>
                  <a:srgbClr val="F0F0F5"/>
                </a:solidFill>
                <a:latin typeface="Microsoft JhengHei"/>
              </a:defRPr>
            </a:pPr>
            <a:r>
              <a:rPr sz="2000" dirty="0"/>
              <a:t>• </a:t>
            </a:r>
            <a:r>
              <a:rPr sz="2000" dirty="0" err="1"/>
              <a:t>自動化</a:t>
            </a:r>
            <a:r>
              <a:rPr sz="2000" dirty="0"/>
              <a:t> OpenH264 </a:t>
            </a:r>
            <a:r>
              <a:rPr sz="2000" dirty="0" err="1"/>
              <a:t>部署：系統在</a:t>
            </a:r>
            <a:r>
              <a:rPr sz="2000" dirty="0"/>
              <a:t> Windows </a:t>
            </a:r>
            <a:r>
              <a:rPr sz="2000" dirty="0" err="1"/>
              <a:t>執行時，若偵測缺少</a:t>
            </a:r>
            <a:r>
              <a:rPr sz="2000" dirty="0"/>
              <a:t> H.264 </a:t>
            </a:r>
            <a:r>
              <a:rPr sz="2000" dirty="0" err="1"/>
              <a:t>編碼，會全自動從</a:t>
            </a:r>
            <a:r>
              <a:rPr sz="2000" dirty="0"/>
              <a:t> Cisco </a:t>
            </a:r>
            <a:r>
              <a:rPr sz="2000" dirty="0" err="1"/>
              <a:t>官方伺服器下載並極速加載</a:t>
            </a:r>
            <a:r>
              <a:rPr sz="2000" dirty="0"/>
              <a:t> OpenH264 </a:t>
            </a:r>
            <a:r>
              <a:rPr sz="2000" dirty="0" err="1"/>
              <a:t>DLL，實現完全免手動配置的</a:t>
            </a:r>
            <a:r>
              <a:rPr sz="2000" dirty="0"/>
              <a:t> avc1 </a:t>
            </a:r>
            <a:r>
              <a:rPr sz="2000" dirty="0" err="1"/>
              <a:t>本地影片編碼存檔</a:t>
            </a:r>
            <a:r>
              <a:rPr sz="2000" dirty="0"/>
              <a:t>。</a:t>
            </a:r>
          </a:p>
          <a:p>
            <a:pPr>
              <a:spcBef>
                <a:spcPts val="600"/>
              </a:spcBef>
              <a:defRPr sz="1150">
                <a:solidFill>
                  <a:srgbClr val="F0F0F5"/>
                </a:solidFill>
                <a:latin typeface="Microsoft JhengHei"/>
              </a:defRPr>
            </a:pPr>
            <a:r>
              <a:rPr sz="2000" dirty="0"/>
              <a:t>• HTTP 206 Range </a:t>
            </a:r>
            <a:r>
              <a:rPr sz="2000" dirty="0" err="1"/>
              <a:t>Requests：重播串流路由手動實現</a:t>
            </a:r>
            <a:r>
              <a:rPr sz="2000" dirty="0"/>
              <a:t> Range </a:t>
            </a:r>
            <a:r>
              <a:rPr sz="2000" dirty="0" err="1"/>
              <a:t>分段傳輸與</a:t>
            </a:r>
            <a:r>
              <a:rPr sz="2000" dirty="0"/>
              <a:t> 206 </a:t>
            </a:r>
            <a:r>
              <a:rPr sz="2000" dirty="0" err="1"/>
              <a:t>響應，解決了傳統</a:t>
            </a:r>
            <a:r>
              <a:rPr sz="2000" dirty="0"/>
              <a:t> HTTP 200 </a:t>
            </a:r>
            <a:r>
              <a:rPr sz="2000" dirty="0" err="1"/>
              <a:t>回傳整份影片導致瀏覽器無法快進</a:t>
            </a:r>
            <a:r>
              <a:rPr sz="2000" dirty="0"/>
              <a:t>/</a:t>
            </a:r>
            <a:r>
              <a:rPr sz="2000" dirty="0" err="1"/>
              <a:t>倒退或卡死的缺陷，實現了「影片秒開」與「自由拖曳進度條（Seeking</a:t>
            </a:r>
            <a:r>
              <a:rPr sz="20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1094415" cy="731520"/>
          </a:xfrm>
          <a:prstGeom prst="rect">
            <a:avLst/>
          </a:prstGeom>
          <a:noFill/>
        </p:spPr>
        <p:txBody>
          <a:bodyPr wrap="square" lIns="0" tIns="0" rIns="0" bIns="0">
            <a:spAutoFit/>
          </a:bodyPr>
          <a:lstStyle/>
          <a:p>
            <a:pPr>
              <a:defRPr sz="2600" b="1">
                <a:solidFill>
                  <a:srgbClr val="00B4FF"/>
                </a:solidFill>
                <a:latin typeface="Microsoft JhengHei"/>
              </a:defRPr>
            </a:pPr>
            <a:r>
              <a:t>💻 系統架構與技術棧 (Tech Stack)</a:t>
            </a:r>
          </a:p>
        </p:txBody>
      </p:sp>
      <p:sp>
        <p:nvSpPr>
          <p:cNvPr id="5" name="Rounded Rectangle 4"/>
          <p:cNvSpPr/>
          <p:nvPr/>
        </p:nvSpPr>
        <p:spPr>
          <a:xfrm>
            <a:off x="548640" y="1371600"/>
            <a:ext cx="5303520" cy="4754880"/>
          </a:xfrm>
          <a:prstGeom prst="roundRect">
            <a:avLst/>
          </a:prstGeom>
          <a:solidFill>
            <a:srgbClr val="1E222A"/>
          </a:solidFill>
          <a:ln w="19050">
            <a:solidFill>
              <a:srgbClr val="00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4846320" cy="4389120"/>
          </a:xfrm>
          <a:prstGeom prst="rect">
            <a:avLst/>
          </a:prstGeom>
          <a:noFill/>
        </p:spPr>
        <p:txBody>
          <a:bodyPr wrap="square" lIns="0" tIns="0" rIns="0" bIns="0">
            <a:spAutoFit/>
          </a:bodyPr>
          <a:lstStyle/>
          <a:p>
            <a:pPr>
              <a:defRPr sz="1700" b="1">
                <a:solidFill>
                  <a:srgbClr val="00B4FF"/>
                </a:solidFill>
                <a:latin typeface="Microsoft JhengHei"/>
              </a:defRPr>
            </a:pPr>
            <a:r>
              <a:rPr sz="2000" dirty="0"/>
              <a:t>💻 </a:t>
            </a:r>
            <a:r>
              <a:rPr sz="2000" dirty="0" err="1"/>
              <a:t>網頁控制台</a:t>
            </a:r>
            <a:r>
              <a:rPr sz="2000" dirty="0"/>
              <a:t> (Frontend UI)</a:t>
            </a:r>
          </a:p>
          <a:p>
            <a:pPr>
              <a:spcBef>
                <a:spcPts val="600"/>
              </a:spcBef>
              <a:defRPr sz="1150">
                <a:solidFill>
                  <a:srgbClr val="F0F0F5"/>
                </a:solidFill>
                <a:latin typeface="Microsoft JhengHei"/>
              </a:defRPr>
            </a:pPr>
            <a:r>
              <a:rPr sz="2000" dirty="0"/>
              <a:t>• </a:t>
            </a:r>
            <a:r>
              <a:rPr sz="2000" dirty="0" err="1"/>
              <a:t>科技美學設計：極簡</a:t>
            </a:r>
            <a:r>
              <a:rPr sz="2000" dirty="0"/>
              <a:t> Cyberpunk </a:t>
            </a:r>
            <a:r>
              <a:rPr sz="2000" dirty="0" err="1"/>
              <a:t>科技暗色調</a:t>
            </a:r>
            <a:r>
              <a:rPr sz="2000" dirty="0"/>
              <a:t> UI </a:t>
            </a:r>
            <a:r>
              <a:rPr sz="2000" dirty="0" err="1"/>
              <a:t>面板，極致和諧的視覺搭配與流暢的動態回饋</a:t>
            </a:r>
            <a:r>
              <a:rPr sz="2000" dirty="0"/>
              <a:t>。</a:t>
            </a:r>
          </a:p>
          <a:p>
            <a:pPr>
              <a:spcBef>
                <a:spcPts val="600"/>
              </a:spcBef>
              <a:defRPr sz="1150">
                <a:solidFill>
                  <a:srgbClr val="F0F0F5"/>
                </a:solidFill>
                <a:latin typeface="Microsoft JhengHei"/>
              </a:defRPr>
            </a:pPr>
            <a:r>
              <a:rPr sz="2000" dirty="0"/>
              <a:t>• </a:t>
            </a:r>
            <a:r>
              <a:rPr sz="2000" dirty="0" err="1"/>
              <a:t>即時串流播放器：原生</a:t>
            </a:r>
            <a:r>
              <a:rPr sz="2000" dirty="0"/>
              <a:t> </a:t>
            </a:r>
            <a:r>
              <a:rPr sz="2000" dirty="0" err="1"/>
              <a:t>WebSocket</a:t>
            </a:r>
            <a:r>
              <a:rPr sz="2000" dirty="0"/>
              <a:t> </a:t>
            </a:r>
            <a:r>
              <a:rPr sz="2000" dirty="0" err="1"/>
              <a:t>接收影像並通過</a:t>
            </a:r>
            <a:r>
              <a:rPr sz="2000" dirty="0"/>
              <a:t> HTML5 Image Canvas </a:t>
            </a:r>
            <a:r>
              <a:rPr sz="2000" dirty="0" err="1"/>
              <a:t>即時高效繪製</a:t>
            </a:r>
            <a:r>
              <a:rPr sz="2000" dirty="0"/>
              <a:t>。</a:t>
            </a:r>
          </a:p>
          <a:p>
            <a:pPr>
              <a:spcBef>
                <a:spcPts val="600"/>
              </a:spcBef>
              <a:defRPr sz="1150">
                <a:solidFill>
                  <a:srgbClr val="F0F0F5"/>
                </a:solidFill>
                <a:latin typeface="Microsoft JhengHei"/>
              </a:defRPr>
            </a:pPr>
            <a:r>
              <a:rPr sz="2000" dirty="0"/>
              <a:t>• </a:t>
            </a:r>
            <a:r>
              <a:rPr sz="2000" dirty="0" err="1"/>
              <a:t>模組化組件：包含「安全事件歷史日誌（可點擊看截圖與重播</a:t>
            </a:r>
            <a:r>
              <a:rPr sz="2000" dirty="0"/>
              <a:t>）」、「</a:t>
            </a:r>
            <a:r>
              <a:rPr sz="2000" dirty="0" err="1"/>
              <a:t>一鍵發送測試警報模組」與「系統設定調整面板</a:t>
            </a:r>
            <a:r>
              <a:rPr sz="2000" dirty="0"/>
              <a:t>」。</a:t>
            </a:r>
          </a:p>
          <a:p>
            <a:pPr>
              <a:spcBef>
                <a:spcPts val="600"/>
              </a:spcBef>
              <a:defRPr sz="1150">
                <a:solidFill>
                  <a:srgbClr val="F0F0F5"/>
                </a:solidFill>
                <a:latin typeface="Microsoft JhengHei"/>
              </a:defRPr>
            </a:pPr>
            <a:r>
              <a:rPr sz="2000" dirty="0"/>
              <a:t>• </a:t>
            </a:r>
            <a:r>
              <a:rPr sz="2000" dirty="0" err="1"/>
              <a:t>開發技術：基於原生</a:t>
            </a:r>
            <a:r>
              <a:rPr sz="2000" dirty="0"/>
              <a:t> HTML5、高性能 CSS3 </a:t>
            </a:r>
            <a:r>
              <a:rPr sz="2000" dirty="0" err="1"/>
              <a:t>變量設定、JavaScript</a:t>
            </a:r>
            <a:r>
              <a:rPr sz="2000" dirty="0"/>
              <a:t> 與 Native </a:t>
            </a:r>
            <a:r>
              <a:rPr sz="2000" dirty="0" err="1"/>
              <a:t>WebSocket，無笨重框架負擔</a:t>
            </a:r>
            <a:r>
              <a:rPr sz="2000" dirty="0"/>
              <a:t>。</a:t>
            </a:r>
          </a:p>
        </p:txBody>
      </p:sp>
      <p:sp>
        <p:nvSpPr>
          <p:cNvPr id="7" name="Rounded Rectangle 6"/>
          <p:cNvSpPr/>
          <p:nvPr/>
        </p:nvSpPr>
        <p:spPr>
          <a:xfrm>
            <a:off x="6309360" y="1371600"/>
            <a:ext cx="5303520" cy="4754880"/>
          </a:xfrm>
          <a:prstGeom prst="roundRect">
            <a:avLst/>
          </a:prstGeom>
          <a:solidFill>
            <a:srgbClr val="1E222A"/>
          </a:solidFill>
          <a:ln w="19050">
            <a:solidFill>
              <a:srgbClr val="00F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554480"/>
            <a:ext cx="4846320" cy="3754874"/>
          </a:xfrm>
          <a:prstGeom prst="rect">
            <a:avLst/>
          </a:prstGeom>
          <a:noFill/>
        </p:spPr>
        <p:txBody>
          <a:bodyPr wrap="square" lIns="0" tIns="0" rIns="0" bIns="0">
            <a:spAutoFit/>
          </a:bodyPr>
          <a:lstStyle/>
          <a:p>
            <a:pPr>
              <a:defRPr sz="1700" b="1">
                <a:solidFill>
                  <a:srgbClr val="00FF78"/>
                </a:solidFill>
                <a:latin typeface="Microsoft JhengHei"/>
              </a:defRPr>
            </a:pPr>
            <a:r>
              <a:rPr sz="1600" dirty="0"/>
              <a:t>⚙️ </a:t>
            </a:r>
            <a:r>
              <a:rPr sz="1600" dirty="0" err="1"/>
              <a:t>後端引擎與安全資料庫</a:t>
            </a:r>
            <a:r>
              <a:rPr sz="1600" dirty="0"/>
              <a:t> (Backend Engine)</a:t>
            </a:r>
          </a:p>
          <a:p>
            <a:pPr>
              <a:spcBef>
                <a:spcPts val="600"/>
              </a:spcBef>
              <a:defRPr sz="1150">
                <a:solidFill>
                  <a:srgbClr val="F0F0F5"/>
                </a:solidFill>
                <a:latin typeface="Microsoft JhengHei"/>
              </a:defRPr>
            </a:pPr>
            <a:r>
              <a:rPr sz="1600" dirty="0"/>
              <a:t>• API </a:t>
            </a:r>
            <a:r>
              <a:rPr sz="1600" dirty="0" err="1"/>
              <a:t>核心框架：基於</a:t>
            </a:r>
            <a:r>
              <a:rPr sz="1600" dirty="0"/>
              <a:t> </a:t>
            </a:r>
            <a:r>
              <a:rPr sz="1600" dirty="0" err="1"/>
              <a:t>FastAPI</a:t>
            </a:r>
            <a:r>
              <a:rPr sz="1600" dirty="0"/>
              <a:t> </a:t>
            </a:r>
            <a:r>
              <a:rPr sz="1600" dirty="0" err="1"/>
              <a:t>高性能非同步</a:t>
            </a:r>
            <a:r>
              <a:rPr sz="1600" dirty="0"/>
              <a:t> Web </a:t>
            </a:r>
            <a:r>
              <a:rPr sz="1600" dirty="0" err="1"/>
              <a:t>框架，提供高併發、極速</a:t>
            </a:r>
            <a:r>
              <a:rPr sz="1600" dirty="0"/>
              <a:t> JSON API 與 </a:t>
            </a:r>
            <a:r>
              <a:rPr sz="1600" dirty="0" err="1"/>
              <a:t>WebSocket</a:t>
            </a:r>
            <a:r>
              <a:rPr sz="1600" dirty="0"/>
              <a:t> </a:t>
            </a:r>
            <a:r>
              <a:rPr sz="1600" dirty="0" err="1"/>
              <a:t>端點服務</a:t>
            </a:r>
            <a:r>
              <a:rPr sz="1600" dirty="0"/>
              <a:t>。</a:t>
            </a:r>
          </a:p>
          <a:p>
            <a:pPr>
              <a:spcBef>
                <a:spcPts val="600"/>
              </a:spcBef>
              <a:defRPr sz="1150">
                <a:solidFill>
                  <a:srgbClr val="F0F0F5"/>
                </a:solidFill>
                <a:latin typeface="Microsoft JhengHei"/>
              </a:defRPr>
            </a:pPr>
            <a:r>
              <a:rPr sz="1600" dirty="0"/>
              <a:t>• AI </a:t>
            </a:r>
            <a:r>
              <a:rPr sz="1600" dirty="0" err="1"/>
              <a:t>影像處理：利用</a:t>
            </a:r>
            <a:r>
              <a:rPr sz="1600" dirty="0"/>
              <a:t> </a:t>
            </a:r>
            <a:r>
              <a:rPr sz="1600" dirty="0" err="1"/>
              <a:t>OpenCV</a:t>
            </a:r>
            <a:r>
              <a:rPr sz="1600" dirty="0"/>
              <a:t> (</a:t>
            </a:r>
            <a:r>
              <a:rPr sz="1600" dirty="0" err="1"/>
              <a:t>VideoCapture</a:t>
            </a:r>
            <a:r>
              <a:rPr sz="1600" dirty="0"/>
              <a:t> &amp; </a:t>
            </a:r>
            <a:r>
              <a:rPr sz="1600" dirty="0" err="1"/>
              <a:t>VideoWriter</a:t>
            </a:r>
            <a:r>
              <a:rPr sz="1600" dirty="0"/>
              <a:t>) 提供基礎影像採集、環形快取、H.264 </a:t>
            </a:r>
            <a:r>
              <a:rPr sz="1600" dirty="0" err="1"/>
              <a:t>影片合成；結合</a:t>
            </a:r>
            <a:r>
              <a:rPr sz="1600" dirty="0"/>
              <a:t> </a:t>
            </a:r>
            <a:r>
              <a:rPr sz="1600" dirty="0" err="1"/>
              <a:t>PyTorch</a:t>
            </a:r>
            <a:r>
              <a:rPr sz="1600" dirty="0"/>
              <a:t> YOLOv8 </a:t>
            </a:r>
            <a:r>
              <a:rPr sz="1600" dirty="0" err="1"/>
              <a:t>提供人形高精判定</a:t>
            </a:r>
            <a:r>
              <a:rPr sz="1600" dirty="0"/>
              <a:t>。</a:t>
            </a:r>
          </a:p>
          <a:p>
            <a:pPr>
              <a:spcBef>
                <a:spcPts val="600"/>
              </a:spcBef>
              <a:defRPr sz="1150">
                <a:solidFill>
                  <a:srgbClr val="F0F0F5"/>
                </a:solidFill>
                <a:latin typeface="Microsoft JhengHei"/>
              </a:defRPr>
            </a:pPr>
            <a:r>
              <a:rPr sz="1600" dirty="0"/>
              <a:t>• </a:t>
            </a:r>
            <a:r>
              <a:rPr sz="1600" dirty="0" err="1"/>
              <a:t>安全警報管道：支援</a:t>
            </a:r>
            <a:r>
              <a:rPr sz="1600" dirty="0"/>
              <a:t> LINE Notify (</a:t>
            </a:r>
            <a:r>
              <a:rPr sz="1600" dirty="0" err="1"/>
              <a:t>截圖與文字</a:t>
            </a:r>
            <a:r>
              <a:rPr sz="1600" dirty="0"/>
              <a:t>)、Discord </a:t>
            </a:r>
            <a:r>
              <a:rPr sz="1600" dirty="0" err="1"/>
              <a:t>Webhook</a:t>
            </a:r>
            <a:r>
              <a:rPr sz="1600" dirty="0"/>
              <a:t> (</a:t>
            </a:r>
            <a:r>
              <a:rPr sz="1600" dirty="0" err="1"/>
              <a:t>高階</a:t>
            </a:r>
            <a:r>
              <a:rPr sz="1600" dirty="0"/>
              <a:t> Rich Embed </a:t>
            </a:r>
            <a:r>
              <a:rPr sz="1600" dirty="0" err="1"/>
              <a:t>卡片</a:t>
            </a:r>
            <a:r>
              <a:rPr sz="1600" dirty="0"/>
              <a:t>) 與 Email (MIME SMTP </a:t>
            </a:r>
            <a:r>
              <a:rPr sz="1600" dirty="0" err="1"/>
              <a:t>結合</a:t>
            </a:r>
            <a:r>
              <a:rPr sz="1600" dirty="0"/>
              <a:t> STARTTLS/SSL)。</a:t>
            </a:r>
          </a:p>
          <a:p>
            <a:pPr>
              <a:spcBef>
                <a:spcPts val="600"/>
              </a:spcBef>
              <a:defRPr sz="1150">
                <a:solidFill>
                  <a:srgbClr val="F0F0F5"/>
                </a:solidFill>
                <a:latin typeface="Microsoft JhengHei"/>
              </a:defRPr>
            </a:pPr>
            <a:r>
              <a:rPr sz="1600" dirty="0"/>
              <a:t>• </a:t>
            </a:r>
            <a:r>
              <a:rPr sz="1600" dirty="0" err="1"/>
              <a:t>安全資料庫：採用本機</a:t>
            </a:r>
            <a:r>
              <a:rPr sz="1600" dirty="0"/>
              <a:t> SQLite </a:t>
            </a:r>
            <a:r>
              <a:rPr sz="1600" dirty="0" err="1"/>
              <a:t>獨立資料庫，所有查詢全面實施</a:t>
            </a:r>
            <a:r>
              <a:rPr sz="1600" dirty="0"/>
              <a:t> SQL </a:t>
            </a:r>
            <a:r>
              <a:rPr sz="1600" dirty="0" err="1"/>
              <a:t>參數化查詢，徹底根絕</a:t>
            </a:r>
            <a:r>
              <a:rPr sz="1600" dirty="0"/>
              <a:t> SQL </a:t>
            </a:r>
            <a:r>
              <a:rPr sz="1600" dirty="0" err="1"/>
              <a:t>注入攻擊</a:t>
            </a:r>
            <a:r>
              <a:rPr sz="16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1094415" cy="731520"/>
          </a:xfrm>
          <a:prstGeom prst="rect">
            <a:avLst/>
          </a:prstGeom>
          <a:noFill/>
        </p:spPr>
        <p:txBody>
          <a:bodyPr wrap="square" lIns="0" tIns="0" rIns="0" bIns="0">
            <a:spAutoFit/>
          </a:bodyPr>
          <a:lstStyle/>
          <a:p>
            <a:pPr>
              <a:defRPr sz="2600" b="1">
                <a:solidFill>
                  <a:srgbClr val="00B4FF"/>
                </a:solidFill>
                <a:latin typeface="Microsoft JhengHei"/>
              </a:defRPr>
            </a:pPr>
            <a:r>
              <a:t>⏳ 專案修改與演進歷程 (Evolution)</a:t>
            </a:r>
          </a:p>
        </p:txBody>
      </p:sp>
      <p:sp>
        <p:nvSpPr>
          <p:cNvPr id="5" name="Rounded Rectangle 4"/>
          <p:cNvSpPr/>
          <p:nvPr/>
        </p:nvSpPr>
        <p:spPr>
          <a:xfrm>
            <a:off x="548640" y="1371600"/>
            <a:ext cx="5303520" cy="2194560"/>
          </a:xfrm>
          <a:prstGeom prst="roundRect">
            <a:avLst/>
          </a:prstGeom>
          <a:solidFill>
            <a:srgbClr val="1E222A"/>
          </a:solidFill>
          <a:ln w="19050">
            <a:solidFill>
              <a:srgbClr val="A0A5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4846320" cy="1631216"/>
          </a:xfrm>
          <a:prstGeom prst="rect">
            <a:avLst/>
          </a:prstGeom>
          <a:noFill/>
        </p:spPr>
        <p:txBody>
          <a:bodyPr wrap="square" lIns="0" tIns="0" rIns="0" bIns="0">
            <a:spAutoFit/>
          </a:bodyPr>
          <a:lstStyle/>
          <a:p>
            <a:pPr>
              <a:defRPr sz="1700" b="1">
                <a:solidFill>
                  <a:srgbClr val="A0A5AF"/>
                </a:solidFill>
                <a:latin typeface="Microsoft JhengHei"/>
              </a:defRPr>
            </a:pPr>
            <a:r>
              <a:rPr sz="1600" dirty="0"/>
              <a:t>Phase 1: </a:t>
            </a:r>
            <a:r>
              <a:rPr sz="1600" dirty="0" err="1"/>
              <a:t>專案起步與目錄架構搭建</a:t>
            </a:r>
            <a:endParaRPr sz="1600" dirty="0"/>
          </a:p>
          <a:p>
            <a:pPr>
              <a:spcBef>
                <a:spcPts val="600"/>
              </a:spcBef>
              <a:defRPr sz="1150">
                <a:solidFill>
                  <a:srgbClr val="F0F0F5"/>
                </a:solidFill>
                <a:latin typeface="Microsoft JhengHei"/>
              </a:defRPr>
            </a:pPr>
            <a:r>
              <a:rPr sz="1600" dirty="0"/>
              <a:t>• </a:t>
            </a:r>
            <a:r>
              <a:rPr sz="1600" dirty="0" err="1"/>
              <a:t>確立基本目錄架構，包含</a:t>
            </a:r>
            <a:r>
              <a:rPr sz="1600" dirty="0"/>
              <a:t> static </a:t>
            </a:r>
            <a:r>
              <a:rPr sz="1600" dirty="0" err="1"/>
              <a:t>前端資源與</a:t>
            </a:r>
            <a:r>
              <a:rPr sz="1600" dirty="0"/>
              <a:t> storage </a:t>
            </a:r>
            <a:r>
              <a:rPr sz="1600" dirty="0" err="1"/>
              <a:t>本地儲存資料夾</a:t>
            </a:r>
            <a:r>
              <a:rPr sz="1600" dirty="0"/>
              <a:t>。</a:t>
            </a:r>
          </a:p>
          <a:p>
            <a:pPr>
              <a:spcBef>
                <a:spcPts val="600"/>
              </a:spcBef>
              <a:defRPr sz="1150">
                <a:solidFill>
                  <a:srgbClr val="F0F0F5"/>
                </a:solidFill>
                <a:latin typeface="Microsoft JhengHei"/>
              </a:defRPr>
            </a:pPr>
            <a:r>
              <a:rPr sz="1600" dirty="0"/>
              <a:t>• </a:t>
            </a:r>
            <a:r>
              <a:rPr sz="1600" dirty="0" err="1"/>
              <a:t>設置完善的</a:t>
            </a:r>
            <a:r>
              <a:rPr sz="1600" dirty="0"/>
              <a:t> .</a:t>
            </a:r>
            <a:r>
              <a:rPr sz="1600" dirty="0" err="1"/>
              <a:t>gitignore，確保</a:t>
            </a:r>
            <a:r>
              <a:rPr sz="1600" dirty="0"/>
              <a:t> SQLite </a:t>
            </a:r>
            <a:r>
              <a:rPr sz="1600" dirty="0" err="1"/>
              <a:t>資料庫</a:t>
            </a:r>
            <a:r>
              <a:rPr sz="1600" dirty="0"/>
              <a:t> (</a:t>
            </a:r>
            <a:r>
              <a:rPr sz="1600" dirty="0" err="1"/>
              <a:t>nvr.db</a:t>
            </a:r>
            <a:r>
              <a:rPr sz="1600" dirty="0"/>
              <a:t>) </a:t>
            </a:r>
            <a:r>
              <a:rPr sz="1600" dirty="0" err="1"/>
              <a:t>與含有私密</a:t>
            </a:r>
            <a:r>
              <a:rPr sz="1600" dirty="0"/>
              <a:t> Token 的 </a:t>
            </a:r>
            <a:r>
              <a:rPr sz="1600" dirty="0" err="1"/>
              <a:t>config.json</a:t>
            </a:r>
            <a:r>
              <a:rPr sz="1600" dirty="0"/>
              <a:t> </a:t>
            </a:r>
            <a:r>
              <a:rPr sz="1600" dirty="0" err="1"/>
              <a:t>不意外上傳至</a:t>
            </a:r>
            <a:r>
              <a:rPr sz="1600" dirty="0"/>
              <a:t> </a:t>
            </a:r>
            <a:r>
              <a:rPr sz="1600" dirty="0" err="1"/>
              <a:t>GitHub</a:t>
            </a:r>
            <a:r>
              <a:rPr sz="1600" dirty="0"/>
              <a:t>。</a:t>
            </a:r>
          </a:p>
        </p:txBody>
      </p:sp>
      <p:sp>
        <p:nvSpPr>
          <p:cNvPr id="7" name="Rounded Rectangle 6"/>
          <p:cNvSpPr/>
          <p:nvPr/>
        </p:nvSpPr>
        <p:spPr>
          <a:xfrm>
            <a:off x="6309360" y="1371600"/>
            <a:ext cx="5303520" cy="2194560"/>
          </a:xfrm>
          <a:prstGeom prst="roundRect">
            <a:avLst/>
          </a:prstGeom>
          <a:solidFill>
            <a:srgbClr val="1E222A"/>
          </a:solidFill>
          <a:ln w="19050">
            <a:solidFill>
              <a:srgbClr val="00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37960" y="1554480"/>
            <a:ext cx="4846320" cy="1877437"/>
          </a:xfrm>
          <a:prstGeom prst="rect">
            <a:avLst/>
          </a:prstGeom>
          <a:noFill/>
        </p:spPr>
        <p:txBody>
          <a:bodyPr wrap="square" lIns="0" tIns="0" rIns="0" bIns="0">
            <a:spAutoFit/>
          </a:bodyPr>
          <a:lstStyle/>
          <a:p>
            <a:pPr>
              <a:defRPr sz="1700" b="1">
                <a:solidFill>
                  <a:srgbClr val="00B4FF"/>
                </a:solidFill>
                <a:latin typeface="Microsoft JhengHei"/>
              </a:defRPr>
            </a:pPr>
            <a:r>
              <a:rPr sz="1600"/>
              <a:t>Phase 2: 線程解耦與資料庫防丟重構</a:t>
            </a:r>
          </a:p>
          <a:p>
            <a:pPr>
              <a:spcBef>
                <a:spcPts val="600"/>
              </a:spcBef>
              <a:defRPr sz="1150">
                <a:solidFill>
                  <a:srgbClr val="F0F0F5"/>
                </a:solidFill>
                <a:latin typeface="Microsoft JhengHei"/>
              </a:defRPr>
            </a:pPr>
            <a:r>
              <a:rPr sz="1600"/>
              <a:t>• 將 WebSocket send 傳送從局部捕獲解耦，徹底修復瀏覽器斷線時造成無限錯誤 Log 與 CPU 吃滿的缺陷。</a:t>
            </a:r>
          </a:p>
          <a:p>
            <a:pPr>
              <a:spcBef>
                <a:spcPts val="600"/>
              </a:spcBef>
              <a:defRPr sz="1150">
                <a:solidFill>
                  <a:srgbClr val="F0F0F5"/>
                </a:solidFill>
                <a:latin typeface="Microsoft JhengHei"/>
              </a:defRPr>
            </a:pPr>
            <a:r>
              <a:rPr sz="1600"/>
              <a:t>• 重構資料庫寫入：由「錄影結束才記錄」改為「偵測入侵當下立即寫入」，保障極致精準的辨識置信度，且能預防異常斷電丟失記錄。</a:t>
            </a:r>
          </a:p>
        </p:txBody>
      </p:sp>
      <p:sp>
        <p:nvSpPr>
          <p:cNvPr id="9" name="Rounded Rectangle 8"/>
          <p:cNvSpPr/>
          <p:nvPr/>
        </p:nvSpPr>
        <p:spPr>
          <a:xfrm>
            <a:off x="548640" y="3931920"/>
            <a:ext cx="5303520" cy="2194560"/>
          </a:xfrm>
          <a:prstGeom prst="roundRect">
            <a:avLst/>
          </a:prstGeom>
          <a:solidFill>
            <a:srgbClr val="1E222A"/>
          </a:solidFill>
          <a:ln w="19050">
            <a:solidFill>
              <a:srgbClr val="00F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114800"/>
            <a:ext cx="4846320" cy="1877437"/>
          </a:xfrm>
          <a:prstGeom prst="rect">
            <a:avLst/>
          </a:prstGeom>
          <a:noFill/>
        </p:spPr>
        <p:txBody>
          <a:bodyPr wrap="square" lIns="0" tIns="0" rIns="0" bIns="0">
            <a:spAutoFit/>
          </a:bodyPr>
          <a:lstStyle/>
          <a:p>
            <a:pPr>
              <a:defRPr sz="1700" b="1">
                <a:solidFill>
                  <a:srgbClr val="00FF78"/>
                </a:solidFill>
                <a:latin typeface="Microsoft JhengHei"/>
              </a:defRPr>
            </a:pPr>
            <a:r>
              <a:rPr sz="1600"/>
              <a:t>Phase 3: 瀏覽器原生播放與分段快進實裝</a:t>
            </a:r>
          </a:p>
          <a:p>
            <a:pPr>
              <a:spcBef>
                <a:spcPts val="600"/>
              </a:spcBef>
              <a:defRPr sz="1150">
                <a:solidFill>
                  <a:srgbClr val="F0F0F5"/>
                </a:solidFill>
                <a:latin typeface="Microsoft JhengHei"/>
              </a:defRPr>
            </a:pPr>
            <a:r>
              <a:rPr sz="1600"/>
              <a:t>• 將影片編碼改為 avc1 (H.264)，實裝 OpenH264 DLL Windows 自動化極速下載，使網頁原生支援直接播放錄影檔。</a:t>
            </a:r>
          </a:p>
          <a:p>
            <a:pPr>
              <a:spcBef>
                <a:spcPts val="600"/>
              </a:spcBef>
              <a:defRPr sz="1150">
                <a:solidFill>
                  <a:srgbClr val="F0F0F5"/>
                </a:solidFill>
                <a:latin typeface="Microsoft JhengHei"/>
              </a:defRPr>
            </a:pPr>
            <a:r>
              <a:rPr sz="1600"/>
              <a:t>• 手動為 uvicorn 實裝 HTTP 206 Range 範圍請求串流路由，徹底解決重播無法拉動進度條與拖曳 Seeking 卡死的頑疾。</a:t>
            </a:r>
          </a:p>
        </p:txBody>
      </p:sp>
      <p:sp>
        <p:nvSpPr>
          <p:cNvPr id="11" name="Rounded Rectangle 10"/>
          <p:cNvSpPr/>
          <p:nvPr/>
        </p:nvSpPr>
        <p:spPr>
          <a:xfrm>
            <a:off x="6309360" y="3931920"/>
            <a:ext cx="5303520" cy="2194560"/>
          </a:xfrm>
          <a:prstGeom prst="roundRect">
            <a:avLst/>
          </a:prstGeom>
          <a:solidFill>
            <a:srgbClr val="1E222A"/>
          </a:solidFill>
          <a:ln w="19050">
            <a:solidFill>
              <a:srgbClr val="FF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4114800"/>
            <a:ext cx="4846320" cy="1877437"/>
          </a:xfrm>
          <a:prstGeom prst="rect">
            <a:avLst/>
          </a:prstGeom>
          <a:noFill/>
        </p:spPr>
        <p:txBody>
          <a:bodyPr wrap="square" lIns="0" tIns="0" rIns="0" bIns="0">
            <a:spAutoFit/>
          </a:bodyPr>
          <a:lstStyle/>
          <a:p>
            <a:pPr>
              <a:defRPr sz="1700" b="1">
                <a:solidFill>
                  <a:srgbClr val="FF3C3C"/>
                </a:solidFill>
                <a:latin typeface="Microsoft JhengHei"/>
              </a:defRPr>
            </a:pPr>
            <a:r>
              <a:rPr sz="1600"/>
              <a:t>Phase 4: 多管道通知警報與精細化錄影防護</a:t>
            </a:r>
          </a:p>
          <a:p>
            <a:pPr>
              <a:spcBef>
                <a:spcPts val="600"/>
              </a:spcBef>
              <a:defRPr sz="1150">
                <a:solidFill>
                  <a:srgbClr val="F0F0F5"/>
                </a:solidFill>
                <a:latin typeface="Microsoft JhengHei"/>
              </a:defRPr>
            </a:pPr>
            <a:r>
              <a:rPr sz="1600"/>
              <a:t>• 實裝可自訂的「單次錄影最大上限時間（max_recording_duration）」，支援自動切分檔案無縫續錄，防範無限錄影塞爆磁碟。</a:t>
            </a:r>
          </a:p>
          <a:p>
            <a:pPr>
              <a:spcBef>
                <a:spcPts val="600"/>
              </a:spcBef>
              <a:defRPr sz="1150">
                <a:solidFill>
                  <a:srgbClr val="F0F0F5"/>
                </a:solidFill>
                <a:latin typeface="Microsoft JhengHei"/>
              </a:defRPr>
            </a:pPr>
            <a:r>
              <a:rPr sz="1600"/>
              <a:t>• 完成 LINE Notify、Discord Rich Embed 與 SMTP Email 三管道異步警報，並配有 Cooldown 冷卻計時，防止重疊警報轟炸。</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1094415" cy="731520"/>
          </a:xfrm>
          <a:prstGeom prst="rect">
            <a:avLst/>
          </a:prstGeom>
          <a:noFill/>
        </p:spPr>
        <p:txBody>
          <a:bodyPr wrap="square" lIns="0" tIns="0" rIns="0" bIns="0">
            <a:spAutoFit/>
          </a:bodyPr>
          <a:lstStyle/>
          <a:p>
            <a:pPr>
              <a:defRPr sz="2600" b="1">
                <a:solidFill>
                  <a:srgbClr val="00B4FF"/>
                </a:solidFill>
                <a:latin typeface="Microsoft JhengHei"/>
              </a:defRPr>
            </a:pPr>
            <a:r>
              <a:t>🛠️ 遇到的關鍵工程問題與技術解決方案</a:t>
            </a:r>
          </a:p>
        </p:txBody>
      </p:sp>
      <p:sp>
        <p:nvSpPr>
          <p:cNvPr id="5" name="Rounded Rectangle 4"/>
          <p:cNvSpPr/>
          <p:nvPr/>
        </p:nvSpPr>
        <p:spPr>
          <a:xfrm>
            <a:off x="548640" y="1371600"/>
            <a:ext cx="3474720" cy="4754880"/>
          </a:xfrm>
          <a:prstGeom prst="roundRect">
            <a:avLst/>
          </a:prstGeom>
          <a:solidFill>
            <a:srgbClr val="1E222A"/>
          </a:solidFill>
          <a:ln w="19050">
            <a:solidFill>
              <a:srgbClr val="FF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3017520" cy="3400931"/>
          </a:xfrm>
          <a:prstGeom prst="rect">
            <a:avLst/>
          </a:prstGeom>
          <a:noFill/>
        </p:spPr>
        <p:txBody>
          <a:bodyPr wrap="square" lIns="0" tIns="0" rIns="0" bIns="0">
            <a:spAutoFit/>
          </a:bodyPr>
          <a:lstStyle/>
          <a:p>
            <a:pPr>
              <a:defRPr sz="1700" b="1">
                <a:solidFill>
                  <a:srgbClr val="FF3C3C"/>
                </a:solidFill>
                <a:latin typeface="Microsoft JhengHei"/>
              </a:defRPr>
            </a:pPr>
            <a:r>
              <a:rPr sz="1400" dirty="0"/>
              <a:t>❌ HTML5 </a:t>
            </a:r>
            <a:r>
              <a:rPr sz="1400" dirty="0" err="1"/>
              <a:t>原生拒播</a:t>
            </a:r>
            <a:r>
              <a:rPr sz="1400" dirty="0"/>
              <a:t> </a:t>
            </a:r>
            <a:r>
              <a:rPr sz="1400" dirty="0" err="1"/>
              <a:t>OpenCV</a:t>
            </a:r>
            <a:r>
              <a:rPr sz="1400" dirty="0"/>
              <a:t> </a:t>
            </a:r>
            <a:r>
              <a:rPr sz="1400" dirty="0" err="1"/>
              <a:t>影片</a:t>
            </a:r>
            <a:endParaRPr sz="1400" dirty="0"/>
          </a:p>
          <a:p>
            <a:pPr>
              <a:spcBef>
                <a:spcPts val="600"/>
              </a:spcBef>
              <a:defRPr sz="1150">
                <a:solidFill>
                  <a:srgbClr val="F0F0F5"/>
                </a:solidFill>
                <a:latin typeface="Microsoft JhengHei"/>
              </a:defRPr>
            </a:pPr>
            <a:r>
              <a:rPr sz="1400" dirty="0"/>
              <a:t>【</a:t>
            </a:r>
            <a:r>
              <a:rPr sz="1400" dirty="0" err="1"/>
              <a:t>痛點成因</a:t>
            </a:r>
            <a:r>
              <a:rPr sz="1400" dirty="0"/>
              <a:t>】</a:t>
            </a:r>
          </a:p>
          <a:p>
            <a:pPr>
              <a:spcBef>
                <a:spcPts val="600"/>
              </a:spcBef>
              <a:defRPr sz="1150">
                <a:solidFill>
                  <a:srgbClr val="F0F0F5"/>
                </a:solidFill>
                <a:latin typeface="Microsoft JhengHei"/>
              </a:defRPr>
            </a:pPr>
            <a:r>
              <a:rPr sz="1400" dirty="0" err="1"/>
              <a:t>OpenCV</a:t>
            </a:r>
            <a:r>
              <a:rPr sz="1400" dirty="0"/>
              <a:t> </a:t>
            </a:r>
            <a:r>
              <a:rPr sz="1400" dirty="0" err="1"/>
              <a:t>預設的影片格式</a:t>
            </a:r>
            <a:r>
              <a:rPr sz="1400" dirty="0"/>
              <a:t> (如 XVID、MJPG) </a:t>
            </a:r>
            <a:r>
              <a:rPr sz="1400" dirty="0" err="1"/>
              <a:t>在現代瀏覽器</a:t>
            </a:r>
            <a:r>
              <a:rPr sz="1400" dirty="0"/>
              <a:t> Chrome/Edge </a:t>
            </a:r>
            <a:r>
              <a:rPr sz="1400" dirty="0" err="1"/>
              <a:t>的原生</a:t>
            </a:r>
            <a:r>
              <a:rPr sz="1400" dirty="0"/>
              <a:t> &lt;video&gt; </a:t>
            </a:r>
            <a:r>
              <a:rPr sz="1400" dirty="0" err="1"/>
              <a:t>元素中完全無法直接解碼，重播時會顯示檔案損毀或解碼失敗</a:t>
            </a:r>
            <a:r>
              <a:rPr sz="1400" dirty="0"/>
              <a:t>。</a:t>
            </a:r>
          </a:p>
          <a:p>
            <a:pPr>
              <a:spcBef>
                <a:spcPts val="600"/>
              </a:spcBef>
              <a:defRPr sz="1150">
                <a:solidFill>
                  <a:srgbClr val="F0F0F5"/>
                </a:solidFill>
                <a:latin typeface="Microsoft JhengHei"/>
              </a:defRPr>
            </a:pPr>
            <a:r>
              <a:rPr sz="1400" dirty="0"/>
              <a:t>【</a:t>
            </a:r>
            <a:r>
              <a:rPr sz="1400" dirty="0" err="1"/>
              <a:t>技術解法</a:t>
            </a:r>
            <a:r>
              <a:rPr sz="1400" dirty="0"/>
              <a:t>】</a:t>
            </a:r>
          </a:p>
          <a:p>
            <a:pPr>
              <a:spcBef>
                <a:spcPts val="600"/>
              </a:spcBef>
              <a:defRPr sz="1150">
                <a:solidFill>
                  <a:srgbClr val="F0F0F5"/>
                </a:solidFill>
                <a:latin typeface="Microsoft JhengHei"/>
              </a:defRPr>
            </a:pPr>
            <a:r>
              <a:rPr sz="1400" dirty="0"/>
              <a:t>1. </a:t>
            </a:r>
            <a:r>
              <a:rPr sz="1400" dirty="0" err="1"/>
              <a:t>將編碼格式強制指定為</a:t>
            </a:r>
            <a:r>
              <a:rPr sz="1400" dirty="0"/>
              <a:t> avc1 (H.264) </a:t>
            </a:r>
            <a:r>
              <a:rPr sz="1400" dirty="0" err="1"/>
              <a:t>目標</a:t>
            </a:r>
            <a:r>
              <a:rPr sz="1400" dirty="0"/>
              <a:t> Codec。</a:t>
            </a:r>
          </a:p>
          <a:p>
            <a:pPr>
              <a:spcBef>
                <a:spcPts val="600"/>
              </a:spcBef>
              <a:defRPr sz="1150">
                <a:solidFill>
                  <a:srgbClr val="F0F0F5"/>
                </a:solidFill>
                <a:latin typeface="Microsoft JhengHei"/>
              </a:defRPr>
            </a:pPr>
            <a:r>
              <a:rPr sz="1400" dirty="0"/>
              <a:t>2. </a:t>
            </a:r>
            <a:r>
              <a:rPr sz="1400" dirty="0" err="1"/>
              <a:t>針對</a:t>
            </a:r>
            <a:r>
              <a:rPr sz="1400" dirty="0"/>
              <a:t> Windows </a:t>
            </a:r>
            <a:r>
              <a:rPr sz="1400" dirty="0" err="1"/>
              <a:t>系統編寫自動引導下載機制，首次運行自動自</a:t>
            </a:r>
            <a:r>
              <a:rPr sz="1400" dirty="0"/>
              <a:t> Cisco </a:t>
            </a:r>
            <a:r>
              <a:rPr sz="1400" dirty="0" err="1"/>
              <a:t>下載並載入</a:t>
            </a:r>
            <a:r>
              <a:rPr sz="1400" dirty="0"/>
              <a:t> OpenH264 </a:t>
            </a:r>
            <a:r>
              <a:rPr sz="1400" dirty="0" err="1"/>
              <a:t>DLL，實現「零設定零痛苦」的網頁原生錄影解碼</a:t>
            </a:r>
            <a:r>
              <a:rPr sz="1400" dirty="0"/>
              <a:t>。</a:t>
            </a:r>
          </a:p>
        </p:txBody>
      </p:sp>
      <p:sp>
        <p:nvSpPr>
          <p:cNvPr id="7" name="Rounded Rectangle 6"/>
          <p:cNvSpPr/>
          <p:nvPr/>
        </p:nvSpPr>
        <p:spPr>
          <a:xfrm>
            <a:off x="4352544" y="1371600"/>
            <a:ext cx="3474720" cy="4754880"/>
          </a:xfrm>
          <a:prstGeom prst="roundRect">
            <a:avLst/>
          </a:prstGeom>
          <a:solidFill>
            <a:srgbClr val="1E222A"/>
          </a:solidFill>
          <a:ln w="19050">
            <a:solidFill>
              <a:srgbClr val="FF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81144" y="1554480"/>
            <a:ext cx="3017520" cy="4047262"/>
          </a:xfrm>
          <a:prstGeom prst="rect">
            <a:avLst/>
          </a:prstGeom>
          <a:noFill/>
        </p:spPr>
        <p:txBody>
          <a:bodyPr wrap="square" lIns="0" tIns="0" rIns="0" bIns="0">
            <a:spAutoFit/>
          </a:bodyPr>
          <a:lstStyle/>
          <a:p>
            <a:pPr>
              <a:defRPr sz="1700" b="1">
                <a:solidFill>
                  <a:srgbClr val="FF3C3C"/>
                </a:solidFill>
                <a:latin typeface="Microsoft JhengHei"/>
              </a:defRPr>
            </a:pPr>
            <a:r>
              <a:rPr sz="1400"/>
              <a:t>❌ 重播影片無法任意拖曳進度 (Seeking)</a:t>
            </a:r>
          </a:p>
          <a:p>
            <a:pPr>
              <a:spcBef>
                <a:spcPts val="600"/>
              </a:spcBef>
              <a:defRPr sz="1150">
                <a:solidFill>
                  <a:srgbClr val="F0F0F5"/>
                </a:solidFill>
                <a:latin typeface="Microsoft JhengHei"/>
              </a:defRPr>
            </a:pPr>
            <a:r>
              <a:rPr sz="1400"/>
              <a:t>【痛點成因】</a:t>
            </a:r>
          </a:p>
          <a:p>
            <a:pPr>
              <a:spcBef>
                <a:spcPts val="600"/>
              </a:spcBef>
              <a:defRPr sz="1150">
                <a:solidFill>
                  <a:srgbClr val="F0F0F5"/>
                </a:solidFill>
                <a:latin typeface="Microsoft JhengHei"/>
              </a:defRPr>
            </a:pPr>
            <a:r>
              <a:rPr sz="1400"/>
              <a:t>使用 FastAPI 的 FileResponse 路由為 HTTP 200，瀏覽器播放影片時必須一口氣下載全部內容，且 HTML5 Player 無法取得隨機區段 (Range)，導致快進、拉動進度條時完全失效卡死。</a:t>
            </a:r>
          </a:p>
          <a:p>
            <a:pPr>
              <a:spcBef>
                <a:spcPts val="600"/>
              </a:spcBef>
              <a:defRPr sz="1150">
                <a:solidFill>
                  <a:srgbClr val="F0F0F5"/>
                </a:solidFill>
                <a:latin typeface="Microsoft JhengHei"/>
              </a:defRPr>
            </a:pPr>
            <a:r>
              <a:rPr sz="1400"/>
              <a:t>【技術解法】</a:t>
            </a:r>
          </a:p>
          <a:p>
            <a:pPr>
              <a:spcBef>
                <a:spcPts val="600"/>
              </a:spcBef>
              <a:defRPr sz="1150">
                <a:solidFill>
                  <a:srgbClr val="F0F0F5"/>
                </a:solidFill>
                <a:latin typeface="Microsoft JhengHei"/>
              </a:defRPr>
            </a:pPr>
            <a:r>
              <a:rPr sz="1400"/>
              <a:t>1. 手動編寫 HTTP 206 處理程序，解析瀏覽器發送的 HTTP Range 請求標頭 (bytes=start-end)。</a:t>
            </a:r>
          </a:p>
          <a:p>
            <a:pPr>
              <a:spcBef>
                <a:spcPts val="600"/>
              </a:spcBef>
              <a:defRPr sz="1150">
                <a:solidFill>
                  <a:srgbClr val="F0F0F5"/>
                </a:solidFill>
                <a:latin typeface="Microsoft JhengHei"/>
              </a:defRPr>
            </a:pPr>
            <a:r>
              <a:rPr sz="1400"/>
              <a:t>2. 設計「二進位分塊生成器 (Chunk Generator)」並傳回 StreamingResponse，加上對應的 Content-Range、Accept-Ranges 標頭，完美解鎖拖曳進度條功能。</a:t>
            </a:r>
          </a:p>
        </p:txBody>
      </p:sp>
      <p:sp>
        <p:nvSpPr>
          <p:cNvPr id="9" name="Rounded Rectangle 8"/>
          <p:cNvSpPr/>
          <p:nvPr/>
        </p:nvSpPr>
        <p:spPr>
          <a:xfrm>
            <a:off x="8165592" y="1371600"/>
            <a:ext cx="3474720" cy="4754880"/>
          </a:xfrm>
          <a:prstGeom prst="roundRect">
            <a:avLst/>
          </a:prstGeom>
          <a:solidFill>
            <a:srgbClr val="1E222A"/>
          </a:solidFill>
          <a:ln w="19050">
            <a:solidFill>
              <a:srgbClr val="FF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94192" y="1554480"/>
            <a:ext cx="3017520" cy="3831818"/>
          </a:xfrm>
          <a:prstGeom prst="rect">
            <a:avLst/>
          </a:prstGeom>
          <a:noFill/>
        </p:spPr>
        <p:txBody>
          <a:bodyPr wrap="square" lIns="0" tIns="0" rIns="0" bIns="0">
            <a:spAutoFit/>
          </a:bodyPr>
          <a:lstStyle/>
          <a:p>
            <a:pPr>
              <a:defRPr sz="1700" b="1">
                <a:solidFill>
                  <a:srgbClr val="FF3C3C"/>
                </a:solidFill>
                <a:latin typeface="Microsoft JhengHei"/>
              </a:defRPr>
            </a:pPr>
            <a:r>
              <a:rPr sz="1400"/>
              <a:t>❌ 網頁斷線引發線程崩潰與 Log 狂飆</a:t>
            </a:r>
          </a:p>
          <a:p>
            <a:pPr>
              <a:spcBef>
                <a:spcPts val="600"/>
              </a:spcBef>
              <a:defRPr sz="1150">
                <a:solidFill>
                  <a:srgbClr val="F0F0F5"/>
                </a:solidFill>
                <a:latin typeface="Microsoft JhengHei"/>
              </a:defRPr>
            </a:pPr>
            <a:r>
              <a:rPr sz="1400"/>
              <a:t>【痛點成因】</a:t>
            </a:r>
          </a:p>
          <a:p>
            <a:pPr>
              <a:spcBef>
                <a:spcPts val="600"/>
              </a:spcBef>
              <a:defRPr sz="1150">
                <a:solidFill>
                  <a:srgbClr val="F0F0F5"/>
                </a:solidFill>
                <a:latin typeface="Microsoft JhengHei"/>
              </a:defRPr>
            </a:pPr>
            <a:r>
              <a:rPr sz="1400"/>
              <a:t>當監控面板被關閉或重載時，WebSocket 連線已斷開，但背景影像擷取發送迴圈無法即時感知斷連，陷入無限迴圈捕捉並嘗試 send，每毫秒大量噴出 Exception 錯誤日誌並把 CPU 負載吃滿。</a:t>
            </a:r>
          </a:p>
          <a:p>
            <a:pPr>
              <a:spcBef>
                <a:spcPts val="600"/>
              </a:spcBef>
              <a:defRPr sz="1150">
                <a:solidFill>
                  <a:srgbClr val="F0F0F5"/>
                </a:solidFill>
                <a:latin typeface="Microsoft JhengHei"/>
              </a:defRPr>
            </a:pPr>
            <a:r>
              <a:rPr sz="1400"/>
              <a:t>【技術解法】</a:t>
            </a:r>
          </a:p>
          <a:p>
            <a:pPr>
              <a:spcBef>
                <a:spcPts val="600"/>
              </a:spcBef>
              <a:defRPr sz="1150">
                <a:solidFill>
                  <a:srgbClr val="F0F0F5"/>
                </a:solidFill>
                <a:latin typeface="Microsoft JhengHei"/>
              </a:defRPr>
            </a:pPr>
            <a:r>
              <a:rPr sz="1400"/>
              <a:t>1. 將 WebSocket send 與本地擷取邏輯適度解耦。</a:t>
            </a:r>
          </a:p>
          <a:p>
            <a:pPr>
              <a:spcBef>
                <a:spcPts val="600"/>
              </a:spcBef>
              <a:defRPr sz="1150">
                <a:solidFill>
                  <a:srgbClr val="F0F0F5"/>
                </a:solidFill>
                <a:latin typeface="Microsoft JhengHei"/>
              </a:defRPr>
            </a:pPr>
            <a:r>
              <a:rPr sz="1400"/>
              <a:t>2. 在最外層精準實裝 try-except WebSocketDisconnect 機制，一旦客戶端斷開就立刻主動關閉擷取線程、安全銷毀寫入器並優雅釋放相機與系統資源。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00B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11094415" cy="731520"/>
          </a:xfrm>
          <a:prstGeom prst="rect">
            <a:avLst/>
          </a:prstGeom>
          <a:noFill/>
        </p:spPr>
        <p:txBody>
          <a:bodyPr wrap="square" lIns="0" tIns="0" rIns="0" bIns="0">
            <a:spAutoFit/>
          </a:bodyPr>
          <a:lstStyle/>
          <a:p>
            <a:pPr>
              <a:defRPr sz="2600" b="1">
                <a:solidFill>
                  <a:srgbClr val="00B4FF"/>
                </a:solidFill>
                <a:latin typeface="Microsoft JhengHei"/>
              </a:defRPr>
            </a:pPr>
            <a:r>
              <a:t>💡 未來擴充想法與展望 (Future Discussion)</a:t>
            </a:r>
          </a:p>
        </p:txBody>
      </p:sp>
      <p:sp>
        <p:nvSpPr>
          <p:cNvPr id="5" name="Rounded Rectangle 4"/>
          <p:cNvSpPr/>
          <p:nvPr/>
        </p:nvSpPr>
        <p:spPr>
          <a:xfrm>
            <a:off x="548640" y="1371600"/>
            <a:ext cx="3474720" cy="4754880"/>
          </a:xfrm>
          <a:prstGeom prst="roundRect">
            <a:avLst/>
          </a:prstGeom>
          <a:solidFill>
            <a:srgbClr val="1E222A"/>
          </a:solidFill>
          <a:ln w="19050">
            <a:solidFill>
              <a:srgbClr val="00F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54480"/>
            <a:ext cx="3017520" cy="3508653"/>
          </a:xfrm>
          <a:prstGeom prst="rect">
            <a:avLst/>
          </a:prstGeom>
          <a:noFill/>
        </p:spPr>
        <p:txBody>
          <a:bodyPr wrap="square" lIns="0" tIns="0" rIns="0" bIns="0">
            <a:spAutoFit/>
          </a:bodyPr>
          <a:lstStyle/>
          <a:p>
            <a:pPr>
              <a:defRPr sz="1700" b="1">
                <a:solidFill>
                  <a:srgbClr val="00FF78"/>
                </a:solidFill>
                <a:latin typeface="Microsoft JhengHei"/>
              </a:defRPr>
            </a:pPr>
            <a:r>
              <a:rPr sz="1600" dirty="0"/>
              <a:t>💡 AI </a:t>
            </a:r>
            <a:r>
              <a:rPr sz="1600" dirty="0" err="1"/>
              <a:t>人臉辨識熟人白名單</a:t>
            </a:r>
            <a:endParaRPr sz="1600" dirty="0"/>
          </a:p>
          <a:p>
            <a:pPr>
              <a:spcBef>
                <a:spcPts val="600"/>
              </a:spcBef>
              <a:defRPr sz="1150">
                <a:solidFill>
                  <a:srgbClr val="F0F0F5"/>
                </a:solidFill>
                <a:latin typeface="Microsoft JhengHei"/>
              </a:defRPr>
            </a:pPr>
            <a:r>
              <a:rPr sz="1600" dirty="0"/>
              <a:t>【</a:t>
            </a:r>
            <a:r>
              <a:rPr sz="1600" dirty="0" err="1"/>
              <a:t>升級功能</a:t>
            </a:r>
            <a:r>
              <a:rPr sz="1600" dirty="0"/>
              <a:t>】</a:t>
            </a:r>
          </a:p>
          <a:p>
            <a:pPr>
              <a:spcBef>
                <a:spcPts val="600"/>
              </a:spcBef>
              <a:defRPr sz="1150">
                <a:solidFill>
                  <a:srgbClr val="F0F0F5"/>
                </a:solidFill>
                <a:latin typeface="Microsoft JhengHei"/>
              </a:defRPr>
            </a:pPr>
            <a:r>
              <a:rPr sz="1600" dirty="0" err="1"/>
              <a:t>導入輕量人臉辨識模組</a:t>
            </a:r>
            <a:r>
              <a:rPr sz="1600" dirty="0"/>
              <a:t> (如 </a:t>
            </a:r>
            <a:r>
              <a:rPr sz="1600" dirty="0" err="1"/>
              <a:t>FaceNet</a:t>
            </a:r>
            <a:r>
              <a:rPr sz="1600" dirty="0"/>
              <a:t> 或 </a:t>
            </a:r>
            <a:r>
              <a:rPr sz="1600" dirty="0" err="1"/>
              <a:t>InsightFace</a:t>
            </a:r>
            <a:r>
              <a:rPr sz="1600" dirty="0"/>
              <a:t>)。</a:t>
            </a:r>
            <a:r>
              <a:rPr sz="1600" dirty="0" err="1"/>
              <a:t>建立親友與熟人白名單資料庫</a:t>
            </a:r>
            <a:r>
              <a:rPr sz="1600" dirty="0"/>
              <a:t>。</a:t>
            </a:r>
          </a:p>
          <a:p>
            <a:pPr>
              <a:spcBef>
                <a:spcPts val="600"/>
              </a:spcBef>
              <a:defRPr sz="1150">
                <a:solidFill>
                  <a:srgbClr val="F0F0F5"/>
                </a:solidFill>
                <a:latin typeface="Microsoft JhengHei"/>
              </a:defRPr>
            </a:pPr>
            <a:r>
              <a:rPr sz="1600" dirty="0"/>
              <a:t>【</a:t>
            </a:r>
            <a:r>
              <a:rPr sz="1600" dirty="0" err="1"/>
              <a:t>應用價值</a:t>
            </a:r>
            <a:r>
              <a:rPr sz="1600" dirty="0"/>
              <a:t>】</a:t>
            </a:r>
          </a:p>
          <a:p>
            <a:pPr>
              <a:spcBef>
                <a:spcPts val="600"/>
              </a:spcBef>
              <a:defRPr sz="1150">
                <a:solidFill>
                  <a:srgbClr val="F0F0F5"/>
                </a:solidFill>
                <a:latin typeface="Microsoft JhengHei"/>
              </a:defRPr>
            </a:pPr>
            <a:r>
              <a:rPr sz="1600" dirty="0" err="1"/>
              <a:t>當系統判定有人入侵時，若經人臉特徵比對出是已登記的家庭成員或親人，會自動「抑制</a:t>
            </a:r>
            <a:r>
              <a:rPr sz="1600" dirty="0"/>
              <a:t> (Suppress) </a:t>
            </a:r>
            <a:r>
              <a:rPr sz="1600" dirty="0" err="1"/>
              <a:t>手機</a:t>
            </a:r>
            <a:r>
              <a:rPr sz="1600" dirty="0"/>
              <a:t> LINE 與 Discord </a:t>
            </a:r>
            <a:r>
              <a:rPr sz="1600" dirty="0" err="1"/>
              <a:t>警報發送</a:t>
            </a:r>
            <a:r>
              <a:rPr sz="1600" dirty="0"/>
              <a:t>」，</a:t>
            </a:r>
            <a:r>
              <a:rPr sz="1600" dirty="0" err="1"/>
              <a:t>杜絕不必要的重複通知騷擾，但背景依舊維持錄影存檔，確保安全防線</a:t>
            </a:r>
            <a:r>
              <a:rPr sz="1600" dirty="0"/>
              <a:t>。</a:t>
            </a:r>
          </a:p>
        </p:txBody>
      </p:sp>
      <p:sp>
        <p:nvSpPr>
          <p:cNvPr id="7" name="Rounded Rectangle 6"/>
          <p:cNvSpPr/>
          <p:nvPr/>
        </p:nvSpPr>
        <p:spPr>
          <a:xfrm>
            <a:off x="4352544" y="1371600"/>
            <a:ext cx="3474720" cy="4754880"/>
          </a:xfrm>
          <a:prstGeom prst="roundRect">
            <a:avLst/>
          </a:prstGeom>
          <a:solidFill>
            <a:srgbClr val="1E222A"/>
          </a:solidFill>
          <a:ln w="19050">
            <a:solidFill>
              <a:srgbClr val="00B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81144" y="1554480"/>
            <a:ext cx="3017520" cy="3508653"/>
          </a:xfrm>
          <a:prstGeom prst="rect">
            <a:avLst/>
          </a:prstGeom>
          <a:noFill/>
        </p:spPr>
        <p:txBody>
          <a:bodyPr wrap="square" lIns="0" tIns="0" rIns="0" bIns="0">
            <a:spAutoFit/>
          </a:bodyPr>
          <a:lstStyle/>
          <a:p>
            <a:pPr>
              <a:defRPr sz="1700" b="1">
                <a:solidFill>
                  <a:srgbClr val="00B4FF"/>
                </a:solidFill>
                <a:latin typeface="Microsoft JhengHei"/>
              </a:defRPr>
            </a:pPr>
            <a:r>
              <a:rPr sz="1600"/>
              <a:t>💡 雙備份雲端加密同步</a:t>
            </a:r>
          </a:p>
          <a:p>
            <a:pPr>
              <a:spcBef>
                <a:spcPts val="600"/>
              </a:spcBef>
              <a:defRPr sz="1150">
                <a:solidFill>
                  <a:srgbClr val="F0F0F5"/>
                </a:solidFill>
                <a:latin typeface="Microsoft JhengHei"/>
              </a:defRPr>
            </a:pPr>
            <a:r>
              <a:rPr sz="1600"/>
              <a:t>【升級功能】</a:t>
            </a:r>
          </a:p>
          <a:p>
            <a:pPr>
              <a:spcBef>
                <a:spcPts val="600"/>
              </a:spcBef>
              <a:defRPr sz="1150">
                <a:solidFill>
                  <a:srgbClr val="F0F0F5"/>
                </a:solidFill>
                <a:latin typeface="Microsoft JhengHei"/>
              </a:defRPr>
            </a:pPr>
            <a:r>
              <a:rPr sz="1600"/>
              <a:t>與主流雲端儲存 API（AWS S3、Google Drive 或 OneDrive）進行非同步異步對接。</a:t>
            </a:r>
          </a:p>
          <a:p>
            <a:pPr>
              <a:spcBef>
                <a:spcPts val="600"/>
              </a:spcBef>
              <a:defRPr sz="1150">
                <a:solidFill>
                  <a:srgbClr val="F0F0F5"/>
                </a:solidFill>
                <a:latin typeface="Microsoft JhengHei"/>
              </a:defRPr>
            </a:pPr>
            <a:r>
              <a:rPr sz="1600"/>
              <a:t>【應用價值】</a:t>
            </a:r>
          </a:p>
          <a:p>
            <a:pPr>
              <a:spcBef>
                <a:spcPts val="600"/>
              </a:spcBef>
              <a:defRPr sz="1150">
                <a:solidFill>
                  <a:srgbClr val="F0F0F5"/>
                </a:solidFill>
                <a:latin typeface="Microsoft JhengHei"/>
              </a:defRPr>
            </a:pPr>
            <a:r>
              <a:rPr sz="1600"/>
              <a:t>當 AI 判定入侵並完成 5 秒回溯錄影存檔後，立即在背景將該影片加密上傳至雲端。這極大地提升了實體防護安全，即便宵小竊賊將實體的 NVR 主機硬碟整台破壞或抱走，雲端仍留有入侵者最清晰的 5 秒前置特寫畫面。</a:t>
            </a:r>
          </a:p>
        </p:txBody>
      </p:sp>
      <p:sp>
        <p:nvSpPr>
          <p:cNvPr id="9" name="Rounded Rectangle 8"/>
          <p:cNvSpPr/>
          <p:nvPr/>
        </p:nvSpPr>
        <p:spPr>
          <a:xfrm>
            <a:off x="8165592" y="1371600"/>
            <a:ext cx="3474720" cy="4754880"/>
          </a:xfrm>
          <a:prstGeom prst="roundRect">
            <a:avLst/>
          </a:prstGeom>
          <a:solidFill>
            <a:srgbClr val="1E222A"/>
          </a:solidFill>
          <a:ln w="19050">
            <a:solidFill>
              <a:srgbClr val="00F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94192" y="1554480"/>
            <a:ext cx="3017520" cy="3585597"/>
          </a:xfrm>
          <a:prstGeom prst="rect">
            <a:avLst/>
          </a:prstGeom>
          <a:noFill/>
        </p:spPr>
        <p:txBody>
          <a:bodyPr wrap="square" lIns="0" tIns="0" rIns="0" bIns="0">
            <a:spAutoFit/>
          </a:bodyPr>
          <a:lstStyle/>
          <a:p>
            <a:pPr>
              <a:defRPr sz="1700" b="1">
                <a:solidFill>
                  <a:srgbClr val="00FF78"/>
                </a:solidFill>
                <a:latin typeface="Microsoft JhengHei"/>
              </a:defRPr>
            </a:pPr>
            <a:r>
              <a:rPr sz="1600"/>
              <a:t>💡 多路 RTSP 與 JWT 安全繫結</a:t>
            </a:r>
          </a:p>
          <a:p>
            <a:pPr>
              <a:spcBef>
                <a:spcPts val="600"/>
              </a:spcBef>
              <a:defRPr sz="1150">
                <a:solidFill>
                  <a:srgbClr val="F0F0F5"/>
                </a:solidFill>
                <a:latin typeface="Microsoft JhengHei"/>
              </a:defRPr>
            </a:pPr>
            <a:r>
              <a:rPr sz="1600"/>
              <a:t>【升級功能】</a:t>
            </a:r>
          </a:p>
          <a:p>
            <a:pPr>
              <a:spcBef>
                <a:spcPts val="600"/>
              </a:spcBef>
              <a:defRPr sz="1150">
                <a:solidFill>
                  <a:srgbClr val="F0F0F5"/>
                </a:solidFill>
                <a:latin typeface="Microsoft JhengHei"/>
              </a:defRPr>
            </a:pPr>
            <a:r>
              <a:rPr sz="1600"/>
              <a:t>1. 擴充多路 RTSP/ONVIF 監控頻道，支援網頁多分割畫面同時即時監控。</a:t>
            </a:r>
          </a:p>
          <a:p>
            <a:pPr>
              <a:spcBef>
                <a:spcPts val="600"/>
              </a:spcBef>
              <a:defRPr sz="1150">
                <a:solidFill>
                  <a:srgbClr val="F0F0F5"/>
                </a:solidFill>
                <a:latin typeface="Microsoft JhengHei"/>
              </a:defRPr>
            </a:pPr>
            <a:r>
              <a:rPr sz="1600"/>
              <a:t>2. 導入 JWT Token 身分驗證機制與 SSL 安全傳輸協定。</a:t>
            </a:r>
          </a:p>
          <a:p>
            <a:pPr>
              <a:spcBef>
                <a:spcPts val="600"/>
              </a:spcBef>
              <a:defRPr sz="1150">
                <a:solidFill>
                  <a:srgbClr val="F0F0F5"/>
                </a:solidFill>
                <a:latin typeface="Microsoft JhengHei"/>
              </a:defRPr>
            </a:pPr>
            <a:r>
              <a:rPr sz="1600"/>
              <a:t>【應用價值】</a:t>
            </a:r>
          </a:p>
          <a:p>
            <a:pPr>
              <a:spcBef>
                <a:spcPts val="600"/>
              </a:spcBef>
              <a:defRPr sz="1150">
                <a:solidFill>
                  <a:srgbClr val="F0F0F5"/>
                </a:solidFill>
                <a:latin typeface="Microsoft JhengHei"/>
              </a:defRPr>
            </a:pPr>
            <a:r>
              <a:rPr sz="1600"/>
              <a:t>支援一般居家多門窗、前庭後院的多相機監控需求；加上 JWT 安全認證與傳輸加密，杜絕任何外部未授權用戶或網路駭客對居家私密監視畫面的窺視竊聽。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805</Words>
  <Application>Microsoft Office PowerPoint</Application>
  <PresentationFormat>自訂</PresentationFormat>
  <Paragraphs>83</Paragraphs>
  <Slides>7</Slides>
  <Notes>0</Notes>
  <HiddenSlides>0</HiddenSlides>
  <MMClips>0</MMClips>
  <ScaleCrop>false</ScaleCrop>
  <HeadingPairs>
    <vt:vector size="4" baseType="variant">
      <vt:variant>
        <vt:lpstr>佈景主題</vt:lpstr>
      </vt:variant>
      <vt:variant>
        <vt:i4>1</vt:i4>
      </vt:variant>
      <vt:variant>
        <vt:lpstr>投影片標題</vt:lpstr>
      </vt:variant>
      <vt:variant>
        <vt:i4>7</vt:i4>
      </vt:variant>
    </vt:vector>
  </HeadingPairs>
  <TitlesOfParts>
    <vt:vector size="8" baseType="lpstr">
      <vt:lpstr>Office Theme</vt:lpstr>
      <vt:lpstr>PowerPoint 簡報</vt:lpstr>
      <vt:lpstr>PowerPoint 簡報</vt:lpstr>
      <vt:lpstr>PowerPoint 簡報</vt:lpstr>
      <vt:lpstr>PowerPoint 簡報</vt:lpstr>
      <vt:lpstr>PowerPoint 簡報</vt:lpstr>
      <vt:lpstr>PowerPoint 簡報</vt:lpstr>
      <vt:lpstr>PowerPoint 簡報</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cp:keywords/>
  <dc:description>generated using python-pptx</dc:description>
  <cp:lastModifiedBy>Edison</cp:lastModifiedBy>
  <cp:revision>3</cp:revision>
  <dcterms:created xsi:type="dcterms:W3CDTF">2013-01-27T09:14:16Z</dcterms:created>
  <dcterms:modified xsi:type="dcterms:W3CDTF">2026-05-23T14:47:48Z</dcterms:modified>
  <cp:category/>
</cp:coreProperties>
</file>